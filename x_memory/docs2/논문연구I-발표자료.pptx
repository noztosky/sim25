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9" r:id="rId2"/>
    <p:sldId id="260" r:id="rId3"/>
    <p:sldId id="262" r:id="rId4"/>
    <p:sldId id="263" r:id="rId5"/>
    <p:sldId id="256" r:id="rId6"/>
    <p:sldId id="257" r:id="rId7"/>
    <p:sldId id="258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4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27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B9BF83-B5BE-4DD4-A332-58395F2573B7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98AE32-E7AE-48A5-9392-CCB4D2CF53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524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FBD7E-A3BC-6889-5459-018029522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A1F2BC-C11E-788E-D978-44D0BE548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08AA1E-F4D2-60C7-95BB-B249DC715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FDA875-124B-0410-25F1-333EC2583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4114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037FE-E336-289B-E67B-42FACD4D4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4B3AF4-9EE8-4550-5EF4-F2DEBFC08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A857F6-7572-4F04-F1A8-6A52BBA69B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EFDE07-6546-9F56-1DDE-AC10DA20FE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7624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5595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203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BFFEA-B934-DA44-3F2F-0680FF215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F45ABC-D864-A051-CD99-CAFE932D3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941332-38E3-900D-7857-B04BC4C54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9866E6-F1FC-07B9-68DA-050AF91EFF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920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CCDCF-AF50-3F5C-E694-ABC01B21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284E67-05D9-99AC-3247-A49858367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A1C473-F509-C3DE-542F-DE9AD1A39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419462-84B4-28A6-DB3B-998950A377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98AE32-E7AE-48A5-9392-CCB4D2CF538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3212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9366CF-792B-CFA1-8A44-A0678772A0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EBCDD3-28F8-9BB8-82F1-0DA29E9ECA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07912E-825E-CD46-0535-D38DB4102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2586AF-1475-3DCE-9626-22E8F00F2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B57174-135C-258E-AA3C-F80C60902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061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3A7FB0-5D14-ACB3-EEA8-C67126F36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620475-98C5-7F83-2FF2-3086279D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BBB093-1A7F-0C07-CF34-29064A5F3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4958B8-832F-44C9-C40F-C12AB603F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F50DAF-1936-0851-2751-D03CEA61B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722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EB811-BC87-D84D-1687-A1760C8FC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0DC127-22B6-A547-33C4-EDE473CD9D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BBE0D6-08EF-7D80-5EEE-8A1BE60D6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F8C1C0-A3E1-037A-A1D4-F185B8D80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6984AC1-7754-CE43-EA3A-C035ACF97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0519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171942-E778-5924-EFE5-5EB75D6CB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997D1-82D9-6052-01AD-9185A554F2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4A750E-A954-38D0-78EA-75E92D7CC1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1F09C6-7004-61C5-1F23-C2D3EDB7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E310EB-6B98-5663-145D-3C27E6FBC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A88C3A7-7589-29E7-EAF7-88B569A0B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85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D82E7-E734-6B26-3EB6-6163087BC2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A5CF0-C24B-B6E7-CB06-030B6CD2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AE3493E-9370-6D8A-649D-009DE01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46C2B7-FFEE-2039-E45D-55D914F802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617EC2E-0FBF-38C2-3629-D2BDEEB8FA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0E27F5B-B84E-FD57-D999-5361E8E8E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93CF540-5D34-8426-9C9C-3F3C5E5B8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F38BA16-71B6-724E-6F9A-EC537191D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2827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4A561D-B944-1079-4403-969D273CA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AF619D7-C08C-9770-DCF8-9F353EAAF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E5C992-64AA-D3A9-431A-E384158D6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BD9E39-60FF-E5D0-9E34-5181E3359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87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D99E7A2-68FB-403F-570D-F47BF4580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3F9E2FB-CABB-3280-4FA6-C537D53B0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1AC3FF-DA1C-BFC9-38C0-1D51F39EC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8614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2DF312-6393-381E-FE68-7DA1935B0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BA897A-A2AA-5E8F-5BE4-55DFEA0AB8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6212841-F7F3-DA50-1907-4106D1C92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56C78-3404-5539-2911-F16CA70B3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943AED-FFC6-AFBD-DB08-6D035AEBA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9FA07E-6A43-33D5-6025-182A2734A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228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97D97-FD7D-3CFB-4FE8-02CE771A3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AE9C586-7EF3-AF58-F4D0-EC3906DBB1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1450DE-2472-911A-C923-C718AC570E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F3174A1-F88B-5258-15B2-CC5795C0F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534A8C4-0C56-7E46-311C-1E4689F28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822821-D6A2-A89D-3490-587860FDB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40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9C151A-C619-AB0B-9AD0-B61BF49B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BE842E3-CCE5-E857-FCBE-8D167B345B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FDC7F2-EE76-436F-8A41-4AEC5EF3A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7EC6-5BE4-20C0-35D0-8F539AF50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36281B-9A28-04AF-12F8-BF73796CD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527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821F8E4-C593-5E61-91FB-86B8F7BC0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087093-BDF6-5DEF-4897-8190AD5E9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C7A13-B3A1-6F80-4860-478BEF377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FEB96E-2BAB-B7EC-D275-AF82085F9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B237B5A-1E0A-8142-1258-827B8EFF3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032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AF9CB8-501F-ED5D-BD12-ABA47736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E30701F-5180-D290-C12C-0D4EE57C6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8EFF73-A29D-ABD8-76C3-629189A6C5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09A1A-9265-4240-B6C3-FDC5AC5FF3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FC67AE-F4C2-BB93-30B6-B022496B8E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48D67E-C77C-AAF2-C4E9-F8521BDCD9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F61A5-E74E-44A2-8A86-D90E731EA8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46247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dupilot.org/copter/docs/parameters.html#ins-gyro-rate-gyro-rate-for-imus-with-fast-sampling-enabled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s.px4.io/main/en/advanced_config/parameter_reference#IMU_GYRO_RATEMAX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0D866-960D-BB98-E567-A212C87CD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EF3DAEB-06FC-47EE-A2B6-67730988918D}"/>
              </a:ext>
            </a:extLst>
          </p:cNvPr>
          <p:cNvSpPr txBox="1"/>
          <p:nvPr/>
        </p:nvSpPr>
        <p:spPr>
          <a:xfrm>
            <a:off x="0" y="3059668"/>
            <a:ext cx="12192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실시간 고주파 센서</a:t>
            </a:r>
            <a:r>
              <a:rPr lang="en-US" altLang="ko-KR" sz="2000" b="1" dirty="0"/>
              <a:t>·</a:t>
            </a:r>
            <a:r>
              <a:rPr lang="ko-KR" altLang="en-US" sz="2000" b="1" dirty="0"/>
              <a:t>제어 루프 처리를 위한 </a:t>
            </a:r>
            <a:r>
              <a:rPr lang="ko-KR" altLang="en-US" sz="2000" b="1" dirty="0" err="1"/>
              <a:t>드론</a:t>
            </a:r>
            <a:r>
              <a:rPr lang="ko-KR" altLang="en-US" sz="2000" b="1" dirty="0"/>
              <a:t> 시뮬레이션 플랫폼</a:t>
            </a:r>
            <a:endParaRPr lang="ko-KR" altLang="en-US" sz="2000" b="1" dirty="0">
              <a:latin typeface="+mj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73F874-25EC-3F37-2025-19D2EBEA48CF}"/>
              </a:ext>
            </a:extLst>
          </p:cNvPr>
          <p:cNvSpPr txBox="1"/>
          <p:nvPr/>
        </p:nvSpPr>
        <p:spPr>
          <a:xfrm>
            <a:off x="10483850" y="6581001"/>
            <a:ext cx="17081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2025. 12. 10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2244886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F936-E10C-0132-BD2B-2A37F6EE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0D8605-EF16-2F55-32A4-F749B94F29A5}"/>
              </a:ext>
            </a:extLst>
          </p:cNvPr>
          <p:cNvSpPr txBox="1"/>
          <p:nvPr/>
        </p:nvSpPr>
        <p:spPr>
          <a:xfrm>
            <a:off x="1212850" y="965200"/>
            <a:ext cx="508000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목차</a:t>
            </a:r>
            <a:endParaRPr lang="en-US" altLang="ko-KR" b="1" dirty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기술의 배경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문제점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연구의 목적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시뮬레이터 설계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실험결과</a:t>
            </a:r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결론</a:t>
            </a:r>
          </a:p>
        </p:txBody>
      </p:sp>
    </p:spTree>
    <p:extLst>
      <p:ext uri="{BB962C8B-B14F-4D97-AF65-F5344CB8AC3E}">
        <p14:creationId xmlns:p14="http://schemas.microsoft.com/office/powerpoint/2010/main" val="1507531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95541A4-BB58-0390-EF20-59D71FD413BA}"/>
              </a:ext>
            </a:extLst>
          </p:cNvPr>
          <p:cNvSpPr txBox="1"/>
          <p:nvPr/>
        </p:nvSpPr>
        <p:spPr>
          <a:xfrm>
            <a:off x="394735" y="173013"/>
            <a:ext cx="11302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 err="1">
                <a:latin typeface="+mj-lt"/>
              </a:rPr>
              <a:t>드론의</a:t>
            </a:r>
            <a:r>
              <a:rPr lang="ko-KR" altLang="en-US" b="1" dirty="0">
                <a:latin typeface="+mj-lt"/>
              </a:rPr>
              <a:t> 구성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54A1B62-E097-C813-70EA-8B6632E04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35" y="713996"/>
            <a:ext cx="7144747" cy="543000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7CEC331-C554-2D4D-CD96-9EE7F598744F}"/>
              </a:ext>
            </a:extLst>
          </p:cNvPr>
          <p:cNvSpPr/>
          <p:nvPr/>
        </p:nvSpPr>
        <p:spPr>
          <a:xfrm>
            <a:off x="2571327" y="2974763"/>
            <a:ext cx="998220" cy="70993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0F914B-68B7-5995-3E7D-F21037B0B041}"/>
              </a:ext>
            </a:extLst>
          </p:cNvPr>
          <p:cNvSpPr txBox="1"/>
          <p:nvPr/>
        </p:nvSpPr>
        <p:spPr>
          <a:xfrm>
            <a:off x="7613227" y="713996"/>
            <a:ext cx="4395893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 err="1"/>
              <a:t>드론은</a:t>
            </a:r>
            <a:r>
              <a:rPr lang="ko-KR" altLang="en-US" sz="1400" dirty="0"/>
              <a:t> 여러 센서와 제어기가 결합되어 기체의 자세를 실시간으로 </a:t>
            </a:r>
            <a:r>
              <a:rPr lang="ko-KR" altLang="en-US" sz="1400" dirty="0" err="1"/>
              <a:t>안정화시키는</a:t>
            </a:r>
            <a:r>
              <a:rPr lang="ko-KR" altLang="en-US" sz="1400" dirty="0"/>
              <a:t> 비행 로봇입니다</a:t>
            </a:r>
            <a:r>
              <a:rPr lang="en-US" altLang="ko-KR" sz="1400" dirty="0"/>
              <a:t>.</a:t>
            </a:r>
          </a:p>
          <a:p>
            <a:endParaRPr lang="en-US" altLang="ko-KR" sz="1600" dirty="0"/>
          </a:p>
          <a:p>
            <a:r>
              <a:rPr lang="ko-KR" altLang="en-US" sz="1400" dirty="0"/>
              <a:t>이번 연구의 주제는 </a:t>
            </a:r>
            <a:r>
              <a:rPr lang="ko-KR" altLang="en-US" sz="1400" dirty="0" err="1"/>
              <a:t>드론의</a:t>
            </a:r>
            <a:r>
              <a:rPr lang="ko-KR" altLang="en-US" sz="1400" dirty="0"/>
              <a:t> 두뇌인 </a:t>
            </a:r>
            <a:r>
              <a:rPr lang="en-US" altLang="ko-KR" sz="1400" dirty="0"/>
              <a:t>Flight Controller</a:t>
            </a:r>
            <a:r>
              <a:rPr lang="ko-KR" altLang="en-US" sz="1400" dirty="0"/>
              <a:t>를 실제 하드웨어 없이</a:t>
            </a:r>
            <a:r>
              <a:rPr lang="en-US" altLang="ko-KR" sz="1400" dirty="0"/>
              <a:t>, </a:t>
            </a:r>
            <a:r>
              <a:rPr lang="ko-KR" altLang="en-US" sz="1400" dirty="0"/>
              <a:t>컴퓨터 안에서 실제와 동일하게 동작시키는 시뮬레이션 기술을 개발하는 것입니다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368568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63780D-B49D-434F-F941-41937DEFF62C}"/>
              </a:ext>
            </a:extLst>
          </p:cNvPr>
          <p:cNvSpPr txBox="1"/>
          <p:nvPr/>
        </p:nvSpPr>
        <p:spPr>
          <a:xfrm>
            <a:off x="394735" y="173013"/>
            <a:ext cx="11302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 err="1">
                <a:latin typeface="+mj-lt"/>
              </a:rPr>
              <a:t>드론의</a:t>
            </a:r>
            <a:r>
              <a:rPr lang="ko-KR" altLang="en-US" b="1" dirty="0">
                <a:latin typeface="+mj-lt"/>
              </a:rPr>
              <a:t> 자세 제어</a:t>
            </a:r>
            <a:endParaRPr lang="ko-KR" altLang="en-US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A31C03CB-4138-0A67-7136-5A30525E4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498" y="806934"/>
            <a:ext cx="4458400" cy="2501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FA6BFB-B065-EE26-4AFA-2A5848589CAA}"/>
              </a:ext>
            </a:extLst>
          </p:cNvPr>
          <p:cNvSpPr txBox="1"/>
          <p:nvPr/>
        </p:nvSpPr>
        <p:spPr>
          <a:xfrm>
            <a:off x="733498" y="3308592"/>
            <a:ext cx="44584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/>
              <a:t>[</a:t>
            </a:r>
            <a:r>
              <a:rPr lang="ko-KR" altLang="en-US" sz="1000" dirty="0" err="1"/>
              <a:t>드론의</a:t>
            </a:r>
            <a:r>
              <a:rPr lang="ko-KR" altLang="en-US" sz="1000" dirty="0"/>
              <a:t> 자세</a:t>
            </a:r>
            <a:r>
              <a:rPr lang="en-US" altLang="ko-KR" sz="1000" dirty="0"/>
              <a:t>(Attitude) 3</a:t>
            </a:r>
            <a:r>
              <a:rPr lang="ko-KR" altLang="en-US" sz="1000" dirty="0"/>
              <a:t>축</a:t>
            </a:r>
            <a:r>
              <a:rPr lang="en-US" altLang="ko-KR" sz="1000" dirty="0"/>
              <a:t>]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533999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9DA5EB-3ED9-456E-6E90-EEBB5C6DD869}"/>
              </a:ext>
            </a:extLst>
          </p:cNvPr>
          <p:cNvSpPr txBox="1"/>
          <p:nvPr/>
        </p:nvSpPr>
        <p:spPr>
          <a:xfrm>
            <a:off x="394735" y="173013"/>
            <a:ext cx="11302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 err="1">
                <a:latin typeface="+mj-lt"/>
              </a:rPr>
              <a:t>드론</a:t>
            </a:r>
            <a:r>
              <a:rPr lang="ko-KR" altLang="en-US" b="1" dirty="0"/>
              <a:t> 자세 제어 루프의 실시간성 요구사항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B5E131B-1776-913C-0A67-87189E73B30B}"/>
              </a:ext>
            </a:extLst>
          </p:cNvPr>
          <p:cNvSpPr/>
          <p:nvPr/>
        </p:nvSpPr>
        <p:spPr>
          <a:xfrm>
            <a:off x="465605" y="865257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IMU</a:t>
            </a:r>
            <a:r>
              <a:rPr lang="ko-KR" altLang="en-US" sz="1600" dirty="0"/>
              <a:t> 센서</a:t>
            </a:r>
            <a:br>
              <a:rPr lang="en-US" altLang="ko-KR" sz="1600" dirty="0"/>
            </a:br>
            <a:r>
              <a:rPr lang="en-US" altLang="ko-KR" sz="1600" dirty="0"/>
              <a:t>(Gyro + Accel)</a:t>
            </a:r>
            <a:endParaRPr lang="ko-KR" altLang="en-US" sz="16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6AA8025-4D3E-4A7A-0C34-7A77BED49221}"/>
              </a:ext>
            </a:extLst>
          </p:cNvPr>
          <p:cNvSpPr/>
          <p:nvPr/>
        </p:nvSpPr>
        <p:spPr>
          <a:xfrm>
            <a:off x="3523046" y="865256"/>
            <a:ext cx="1861169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PID </a:t>
            </a:r>
            <a:r>
              <a:rPr lang="ko-KR" altLang="en-US" sz="1600" dirty="0"/>
              <a:t>제어기</a:t>
            </a:r>
            <a:br>
              <a:rPr lang="en-US" altLang="ko-KR" sz="1600" dirty="0"/>
            </a:br>
            <a:r>
              <a:rPr lang="en-US" altLang="ko-KR" sz="1600" dirty="0"/>
              <a:t>(Attitude Control)</a:t>
            </a:r>
            <a:endParaRPr lang="ko-KR" altLang="en-US" sz="1600" dirty="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E370A8D-FB01-50B0-2039-049C6C920A58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2326774" y="1269858"/>
            <a:ext cx="1196272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AF089AA-E495-050F-CA25-6C2D51B7AC41}"/>
              </a:ext>
            </a:extLst>
          </p:cNvPr>
          <p:cNvSpPr/>
          <p:nvPr/>
        </p:nvSpPr>
        <p:spPr>
          <a:xfrm>
            <a:off x="6693775" y="865255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 dirty="0"/>
              <a:t>PWM</a:t>
            </a:r>
            <a:r>
              <a:rPr lang="ko-KR" altLang="en-US" sz="1600" dirty="0"/>
              <a:t> 출력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43086C9-0EE9-E080-A102-C47D0E472B1E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5384215" y="1269857"/>
            <a:ext cx="1309560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669AB27-89A1-02F7-6C7F-77A0BB870409}"/>
              </a:ext>
            </a:extLst>
          </p:cNvPr>
          <p:cNvSpPr txBox="1"/>
          <p:nvPr/>
        </p:nvSpPr>
        <p:spPr>
          <a:xfrm>
            <a:off x="2441074" y="957586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en-US" altLang="ko-KR" sz="12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38FB1C-A1BC-8BE6-35EC-8BB06E5948A4}"/>
              </a:ext>
            </a:extLst>
          </p:cNvPr>
          <p:cNvSpPr txBox="1"/>
          <p:nvPr/>
        </p:nvSpPr>
        <p:spPr>
          <a:xfrm>
            <a:off x="5554145" y="957586"/>
            <a:ext cx="9629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1 kHz</a:t>
            </a:r>
            <a:endParaRPr lang="ko-KR" altLang="en-US" sz="1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1B1AE4-3D92-5875-9136-9DC9DE2C458D}"/>
              </a:ext>
            </a:extLst>
          </p:cNvPr>
          <p:cNvSpPr txBox="1"/>
          <p:nvPr/>
        </p:nvSpPr>
        <p:spPr>
          <a:xfrm>
            <a:off x="465604" y="1674458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기체 기울기</a:t>
            </a:r>
            <a:r>
              <a:rPr lang="en-US" altLang="ko-KR" sz="1200" dirty="0"/>
              <a:t>, </a:t>
            </a:r>
            <a:r>
              <a:rPr lang="ko-KR" altLang="en-US" sz="1200" dirty="0"/>
              <a:t>회전 측정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2EA0B3-E1CC-1A2F-181D-F251D600780B}"/>
              </a:ext>
            </a:extLst>
          </p:cNvPr>
          <p:cNvSpPr txBox="1"/>
          <p:nvPr/>
        </p:nvSpPr>
        <p:spPr>
          <a:xfrm>
            <a:off x="3523046" y="1674459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자세 안정화 계산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6517833-080C-6B6A-2824-60FC6ABCFA74}"/>
              </a:ext>
            </a:extLst>
          </p:cNvPr>
          <p:cNvSpPr/>
          <p:nvPr/>
        </p:nvSpPr>
        <p:spPr>
          <a:xfrm>
            <a:off x="9864504" y="863775"/>
            <a:ext cx="1861170" cy="80920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모터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589D95A-0F2F-37C3-6D8A-86D7E4FA991C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8568431" y="1268377"/>
            <a:ext cx="129607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8BF8559E-8EDC-E43B-B45C-0A38054BE328}"/>
              </a:ext>
            </a:extLst>
          </p:cNvPr>
          <p:cNvSpPr txBox="1"/>
          <p:nvPr/>
        </p:nvSpPr>
        <p:spPr>
          <a:xfrm>
            <a:off x="8581918" y="957587"/>
            <a:ext cx="1255614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400~1000Hz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82EBD6-C531-C884-C08D-2DF921330D86}"/>
              </a:ext>
            </a:extLst>
          </p:cNvPr>
          <p:cNvSpPr txBox="1"/>
          <p:nvPr/>
        </p:nvSpPr>
        <p:spPr>
          <a:xfrm>
            <a:off x="6693775" y="1674459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모터 속도 제어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282BEA-8F2D-0184-5663-69A077058831}"/>
              </a:ext>
            </a:extLst>
          </p:cNvPr>
          <p:cNvSpPr txBox="1"/>
          <p:nvPr/>
        </p:nvSpPr>
        <p:spPr>
          <a:xfrm>
            <a:off x="9864504" y="1672978"/>
            <a:ext cx="18611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ko-KR" altLang="en-US" sz="12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562CF2-3478-0AC5-1B86-BC788E40989F}"/>
              </a:ext>
            </a:extLst>
          </p:cNvPr>
          <p:cNvSpPr txBox="1"/>
          <p:nvPr/>
        </p:nvSpPr>
        <p:spPr>
          <a:xfrm>
            <a:off x="394735" y="2092801"/>
            <a:ext cx="1133093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 </a:t>
            </a:r>
            <a:r>
              <a:rPr lang="en-US" altLang="ko-KR" sz="1600" b="1" dirty="0"/>
              <a:t>MU </a:t>
            </a:r>
            <a:r>
              <a:rPr lang="ko-KR" altLang="en-US" sz="1600" b="1" dirty="0"/>
              <a:t>센서는 보통 </a:t>
            </a:r>
            <a:r>
              <a:rPr lang="en-US" altLang="ko-KR" sz="1600" b="1" dirty="0"/>
              <a:t>1~32 kHz</a:t>
            </a:r>
            <a:r>
              <a:rPr lang="ko-KR" altLang="en-US" sz="1600" b="1" dirty="0"/>
              <a:t>의 센서 주기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샘플링 주기</a:t>
            </a:r>
            <a:r>
              <a:rPr lang="en-US" altLang="ko-KR" sz="1600" b="1" dirty="0"/>
              <a:t>, Sensor Sampling Rate)</a:t>
            </a:r>
            <a:r>
              <a:rPr lang="ko-KR" altLang="en-US" sz="1600" b="1" dirty="0"/>
              <a:t>로 동작합니다</a:t>
            </a:r>
            <a:r>
              <a:rPr lang="en-US" altLang="ko-KR" sz="1600" b="1" dirty="0"/>
              <a:t>.</a:t>
            </a:r>
            <a:br>
              <a:rPr lang="ko-KR" altLang="en-US" sz="1600" dirty="0"/>
            </a:br>
            <a:r>
              <a:rPr lang="ko-KR" altLang="en-US" sz="1600" dirty="0"/>
              <a:t>이는 </a:t>
            </a:r>
            <a:r>
              <a:rPr lang="ko-KR" altLang="en-US" sz="1600" dirty="0" err="1"/>
              <a:t>자이로</a:t>
            </a:r>
            <a:r>
              <a:rPr lang="en-US" altLang="ko-KR" sz="1600" dirty="0"/>
              <a:t>·</a:t>
            </a:r>
            <a:r>
              <a:rPr lang="ko-KR" altLang="en-US" sz="1600" dirty="0"/>
              <a:t>가속도 데이터를 매우 높은 주기로 생산한다는 의미입니다</a:t>
            </a:r>
            <a:r>
              <a:rPr lang="en-US" altLang="ko-KR" sz="1600" dirty="0"/>
              <a:t>.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Flight Controller(Firmware)</a:t>
            </a:r>
            <a:r>
              <a:rPr lang="ko-KR" altLang="en-US" sz="1600" b="1" dirty="0"/>
              <a:t>의 제어 루프</a:t>
            </a:r>
            <a:r>
              <a:rPr lang="en-US" altLang="ko-KR" sz="1600" b="1" dirty="0"/>
              <a:t>(Control Loop Rate)</a:t>
            </a:r>
            <a:r>
              <a:rPr lang="ko-KR" altLang="en-US" sz="1600" b="1" dirty="0"/>
              <a:t>는</a:t>
            </a:r>
            <a:br>
              <a:rPr lang="ko-KR" altLang="en-US" sz="1600" dirty="0"/>
            </a:br>
            <a:r>
              <a:rPr lang="ko-KR" altLang="en-US" sz="1600" dirty="0"/>
              <a:t>센서 데이터를 처리하여 자세</a:t>
            </a:r>
            <a:r>
              <a:rPr lang="en-US" altLang="ko-KR" sz="1600" dirty="0"/>
              <a:t>(</a:t>
            </a:r>
            <a:r>
              <a:rPr lang="en-US" altLang="ko-KR" sz="1600" dirty="0" err="1"/>
              <a:t>Pitch·Roll·Yaw</a:t>
            </a:r>
            <a:r>
              <a:rPr lang="en-US" altLang="ko-KR" sz="1600" dirty="0"/>
              <a:t>)</a:t>
            </a:r>
            <a:r>
              <a:rPr lang="ko-KR" altLang="en-US" sz="1600" dirty="0"/>
              <a:t>를 계산하고</a:t>
            </a:r>
            <a:r>
              <a:rPr lang="en-US" altLang="ko-KR" sz="1600" dirty="0"/>
              <a:t>, </a:t>
            </a:r>
            <a:r>
              <a:rPr lang="ko-KR" altLang="en-US" sz="1600" dirty="0"/>
              <a:t>모터 명령을 생성하는 주기로</a:t>
            </a:r>
            <a:r>
              <a:rPr lang="en-US" altLang="ko-KR" sz="1600" dirty="0"/>
              <a:t>, </a:t>
            </a:r>
            <a:r>
              <a:rPr lang="ko-KR" altLang="en-US" sz="1600" dirty="0"/>
              <a:t>보통 </a:t>
            </a:r>
            <a:r>
              <a:rPr lang="en-US" altLang="ko-KR" sz="1600" b="1" dirty="0"/>
              <a:t>1~8 kHz </a:t>
            </a:r>
            <a:r>
              <a:rPr lang="ko-KR" altLang="en-US" sz="1600" b="1" dirty="0"/>
              <a:t>범위</a:t>
            </a:r>
            <a:r>
              <a:rPr lang="ko-KR" altLang="en-US" sz="1600" dirty="0"/>
              <a:t>에서 동작합니다</a:t>
            </a:r>
            <a:r>
              <a:rPr lang="en-US" altLang="ko-KR" sz="1600" dirty="0"/>
              <a:t>.</a:t>
            </a:r>
            <a:endParaRPr lang="en-US" altLang="ko-KR" sz="1600" dirty="0">
              <a:effectLst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D8063F0A-E507-B75A-DF9F-0E94E1D6C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585552"/>
              </p:ext>
            </p:extLst>
          </p:nvPr>
        </p:nvGraphicFramePr>
        <p:xfrm>
          <a:off x="459475" y="4000697"/>
          <a:ext cx="4423675" cy="1569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4879">
                  <a:extLst>
                    <a:ext uri="{9D8B030D-6E8A-4147-A177-3AD203B41FA5}">
                      <a16:colId xmlns:a16="http://schemas.microsoft.com/office/drawing/2014/main" val="3861258388"/>
                    </a:ext>
                  </a:extLst>
                </a:gridCol>
                <a:gridCol w="2878796">
                  <a:extLst>
                    <a:ext uri="{9D8B030D-6E8A-4147-A177-3AD203B41FA5}">
                      <a16:colId xmlns:a16="http://schemas.microsoft.com/office/drawing/2014/main" val="3191735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ctr" latinLnBrk="1">
                        <a:buFont typeface="+mj-lt"/>
                        <a:buNone/>
                      </a:pPr>
                      <a:r>
                        <a:rPr lang="en-US" altLang="ko-KR" sz="1200" dirty="0"/>
                        <a:t>IMU</a:t>
                      </a:r>
                      <a:r>
                        <a:rPr lang="ko-KR" altLang="en-US" sz="1200" dirty="0"/>
                        <a:t>센서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최대 샘플링 속도</a:t>
                      </a:r>
                      <a:r>
                        <a:rPr lang="en-US" altLang="ko-KR" sz="1200" dirty="0"/>
                        <a:t>(ODR)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(Output Data Rate)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5292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MPU–6000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232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ICM-42688p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32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6892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ICM-20689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8698105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77C9845F-9314-AB77-4D8A-AB6F0A4E3FDA}"/>
              </a:ext>
            </a:extLst>
          </p:cNvPr>
          <p:cNvSpPr txBox="1"/>
          <p:nvPr/>
        </p:nvSpPr>
        <p:spPr>
          <a:xfrm>
            <a:off x="459475" y="3672628"/>
            <a:ext cx="44236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IMU </a:t>
            </a:r>
            <a:r>
              <a:rPr lang="ko-KR" altLang="en-US" sz="1600" dirty="0"/>
              <a:t>센서 최대 </a:t>
            </a:r>
            <a:r>
              <a:rPr lang="en-US" altLang="ko-KR" sz="1600" dirty="0"/>
              <a:t>ODR </a:t>
            </a:r>
            <a:r>
              <a:rPr lang="ko-KR" altLang="en-US" sz="1600" dirty="0"/>
              <a:t>비교</a:t>
            </a:r>
            <a:endParaRPr lang="ko-KR" altLang="en-US" sz="1600" dirty="0">
              <a:effectLst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14C01FF-CB3D-2773-AC17-ADC91AD7B90B}"/>
              </a:ext>
            </a:extLst>
          </p:cNvPr>
          <p:cNvSpPr txBox="1"/>
          <p:nvPr/>
        </p:nvSpPr>
        <p:spPr>
          <a:xfrm>
            <a:off x="459475" y="5937419"/>
            <a:ext cx="113309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시뮬레이터에서 실기체와 동일한 동적 특성을 재현하려면 최소 </a:t>
            </a:r>
            <a:r>
              <a:rPr lang="en-US" altLang="ko-KR" sz="1200" dirty="0"/>
              <a:t>1 kHz </a:t>
            </a:r>
            <a:r>
              <a:rPr lang="ko-KR" altLang="en-US" sz="1200" dirty="0"/>
              <a:t>이상의 </a:t>
            </a:r>
            <a:r>
              <a:rPr lang="en-US" altLang="ko-KR" sz="1200" dirty="0"/>
              <a:t>IMU ODR </a:t>
            </a:r>
            <a:r>
              <a:rPr lang="ko-KR" altLang="en-US" sz="1200" dirty="0"/>
              <a:t>및 제어 루프 주기를 지원해야 하며</a:t>
            </a:r>
            <a:r>
              <a:rPr lang="en-US" altLang="ko-KR" sz="1200" dirty="0"/>
              <a:t>, </a:t>
            </a:r>
            <a:r>
              <a:rPr lang="ko-KR" altLang="en-US" sz="1200" dirty="0"/>
              <a:t>고성능 재현을 위해서는 </a:t>
            </a:r>
            <a:r>
              <a:rPr lang="en-US" altLang="ko-KR" sz="1200" dirty="0"/>
              <a:t>8 kHz </a:t>
            </a:r>
            <a:r>
              <a:rPr lang="ko-KR" altLang="en-US" sz="1200" dirty="0"/>
              <a:t>이상이 바람직하다</a:t>
            </a:r>
            <a:r>
              <a:rPr lang="en-US" altLang="ko-KR" sz="1200" dirty="0"/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47334D-8D6C-0BBA-0A70-ADEB9A79A7CF}"/>
              </a:ext>
            </a:extLst>
          </p:cNvPr>
          <p:cNvSpPr txBox="1"/>
          <p:nvPr/>
        </p:nvSpPr>
        <p:spPr>
          <a:xfrm>
            <a:off x="5631021" y="3663942"/>
            <a:ext cx="58478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FC(Flight Controller) Firmware</a:t>
            </a:r>
            <a:r>
              <a:rPr lang="ko-KR" altLang="en-US" sz="1600" dirty="0"/>
              <a:t>별 </a:t>
            </a:r>
            <a:r>
              <a:rPr lang="en-US" altLang="ko-KR" sz="1600" dirty="0"/>
              <a:t>IMU </a:t>
            </a:r>
            <a:r>
              <a:rPr lang="ko-KR" altLang="en-US" sz="1600" dirty="0"/>
              <a:t>샘플링 속도</a:t>
            </a:r>
            <a:endParaRPr lang="ko-KR" altLang="en-US" sz="1600" dirty="0">
              <a:effectLst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57626F-0D6B-DD64-055A-B5ABE26F6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722111"/>
              </p:ext>
            </p:extLst>
          </p:nvPr>
        </p:nvGraphicFramePr>
        <p:xfrm>
          <a:off x="5631021" y="4000697"/>
          <a:ext cx="5847847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845">
                  <a:extLst>
                    <a:ext uri="{9D8B030D-6E8A-4147-A177-3AD203B41FA5}">
                      <a16:colId xmlns:a16="http://schemas.microsoft.com/office/drawing/2014/main" val="2050726570"/>
                    </a:ext>
                  </a:extLst>
                </a:gridCol>
                <a:gridCol w="1987550">
                  <a:extLst>
                    <a:ext uri="{9D8B030D-6E8A-4147-A177-3AD203B41FA5}">
                      <a16:colId xmlns:a16="http://schemas.microsoft.com/office/drawing/2014/main" val="3019296922"/>
                    </a:ext>
                  </a:extLst>
                </a:gridCol>
                <a:gridCol w="2076452">
                  <a:extLst>
                    <a:ext uri="{9D8B030D-6E8A-4147-A177-3AD203B41FA5}">
                      <a16:colId xmlns:a16="http://schemas.microsoft.com/office/drawing/2014/main" val="36083669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Firmware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IMU </a:t>
                      </a:r>
                      <a:r>
                        <a:rPr lang="ko-KR" altLang="en-US" sz="1200" dirty="0"/>
                        <a:t>센서 루프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09035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Ardupilot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 kHz ~ 8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INS_GYRO_RATE </a:t>
                      </a:r>
                      <a:r>
                        <a:rPr lang="en-US" altLang="ko-KR" sz="800" b="1" dirty="0"/>
                        <a:t>[1]</a:t>
                      </a:r>
                      <a:endParaRPr lang="ko-KR" altLang="en-US" sz="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727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PX4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IMU_GYRO_RATEMAX </a:t>
                      </a:r>
                      <a:r>
                        <a:rPr lang="en-US" altLang="ko-KR" sz="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[2]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737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Betaflight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 ~ 32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527203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D075B52-6628-5E30-6FA3-1A1C66F6DFAE}"/>
              </a:ext>
            </a:extLst>
          </p:cNvPr>
          <p:cNvSpPr txBox="1"/>
          <p:nvPr/>
        </p:nvSpPr>
        <p:spPr>
          <a:xfrm>
            <a:off x="359246" y="6443459"/>
            <a:ext cx="111723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</a:t>
            </a:r>
            <a:r>
              <a:rPr lang="en-US" altLang="ko-KR" sz="800" b="1" dirty="0">
                <a:hlinkClick r:id="rId3"/>
              </a:rPr>
              <a:t>https://ardupilot.org/copter/docs/parameters.html#ins-gyro-rate-gyro-rate-for-imus-with-fast-sampling-enabled</a:t>
            </a:r>
            <a:r>
              <a:rPr lang="en-US" altLang="ko-KR" sz="800" b="1" dirty="0"/>
              <a:t> ]</a:t>
            </a:r>
          </a:p>
          <a:p>
            <a:r>
              <a:rPr lang="en-US" altLang="ko-KR" sz="800" b="1" dirty="0"/>
              <a:t>2 [Source: </a:t>
            </a:r>
            <a:r>
              <a:rPr lang="en-US" altLang="ko-KR" sz="800" b="1" dirty="0">
                <a:hlinkClick r:id="rId4"/>
              </a:rPr>
              <a:t>https://docs.px4.io/main/en/advanced_config/parameter_reference#IMU_GYRO_RATEMAX</a:t>
            </a:r>
            <a:r>
              <a:rPr lang="en-US" altLang="ko-KR" sz="800" b="1" dirty="0"/>
              <a:t> - </a:t>
            </a:r>
            <a:r>
              <a:rPr lang="en-US" altLang="ko-KR" sz="800" dirty="0" err="1"/>
              <a:t>eg</a:t>
            </a:r>
            <a:r>
              <a:rPr lang="en-US" altLang="ko-KR" sz="800" dirty="0"/>
              <a:t> commonly 8 kHz</a:t>
            </a:r>
            <a:r>
              <a:rPr lang="en-US" altLang="ko-KR" sz="800" b="1" dirty="0"/>
              <a:t>]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2920067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7194F6-2AD5-26CF-7D17-FC6F48A9A5F6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1. </a:t>
            </a:r>
            <a:r>
              <a:rPr lang="ko-KR" altLang="en-US" b="1" dirty="0">
                <a:latin typeface="+mj-lt"/>
              </a:rPr>
              <a:t>기술의 배경 </a:t>
            </a:r>
            <a:r>
              <a:rPr lang="en-US" altLang="ko-KR" b="1" dirty="0">
                <a:latin typeface="+mj-lt"/>
              </a:rPr>
              <a:t>– </a:t>
            </a:r>
            <a:r>
              <a:rPr lang="ko-KR" altLang="en-US" b="1" dirty="0"/>
              <a:t>기존 </a:t>
            </a:r>
            <a:r>
              <a:rPr lang="ko-KR" altLang="en-US" b="1" dirty="0" err="1"/>
              <a:t>시뮬레이</a:t>
            </a:r>
            <a:r>
              <a:rPr lang="ko-KR" altLang="en-US" b="1" dirty="0"/>
              <a:t> 구조와 한계</a:t>
            </a:r>
            <a:endParaRPr lang="ko-KR" altLang="en-US" b="1" dirty="0">
              <a:latin typeface="+mj-lt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930A40C-3BEB-C393-4B5A-3289E7518A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826371"/>
              </p:ext>
            </p:extLst>
          </p:nvPr>
        </p:nvGraphicFramePr>
        <p:xfrm>
          <a:off x="496570" y="3830333"/>
          <a:ext cx="10782300" cy="2181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6230">
                  <a:extLst>
                    <a:ext uri="{9D8B030D-6E8A-4147-A177-3AD203B41FA5}">
                      <a16:colId xmlns:a16="http://schemas.microsoft.com/office/drawing/2014/main" val="4083537526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3413285053"/>
                    </a:ext>
                  </a:extLst>
                </a:gridCol>
                <a:gridCol w="2012950">
                  <a:extLst>
                    <a:ext uri="{9D8B030D-6E8A-4147-A177-3AD203B41FA5}">
                      <a16:colId xmlns:a16="http://schemas.microsoft.com/office/drawing/2014/main" val="3416323462"/>
                    </a:ext>
                  </a:extLst>
                </a:gridCol>
                <a:gridCol w="5411470">
                  <a:extLst>
                    <a:ext uri="{9D8B030D-6E8A-4147-A177-3AD203B41FA5}">
                      <a16:colId xmlns:a16="http://schemas.microsoft.com/office/drawing/2014/main" val="35541255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시뮬레이터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센서 루프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제어 루프 속도</a:t>
                      </a:r>
                      <a:endParaRPr lang="en-US" altLang="ko-K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단점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한계</a:t>
                      </a:r>
                      <a:endParaRPr lang="en-US" altLang="ko-K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22149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SITL</a:t>
                      </a:r>
                      <a:br>
                        <a:rPr lang="en-US" altLang="ko-KR" sz="1200" dirty="0"/>
                      </a:br>
                      <a:r>
                        <a:rPr lang="en-US" altLang="ko-KR" sz="1050" dirty="0"/>
                        <a:t>(Software-In-The-Loop)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미지원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 kHz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고주파 </a:t>
                      </a:r>
                      <a:r>
                        <a:rPr lang="en-US" altLang="ko-KR" sz="1000" dirty="0"/>
                        <a:t>IMU </a:t>
                      </a:r>
                      <a:r>
                        <a:rPr lang="ko-KR" altLang="en-US" sz="1000" dirty="0"/>
                        <a:t>루프</a:t>
                      </a:r>
                      <a:r>
                        <a:rPr lang="en-US" altLang="ko-KR" sz="1000" dirty="0"/>
                        <a:t>(&gt;1 kHz) </a:t>
                      </a:r>
                      <a:r>
                        <a:rPr lang="ko-KR" altLang="en-US" sz="1000" dirty="0"/>
                        <a:t>불가</a:t>
                      </a:r>
                      <a:r>
                        <a:rPr lang="en-US" altLang="ko-KR" sz="1000" dirty="0"/>
                        <a:t>, RPC </a:t>
                      </a:r>
                      <a:r>
                        <a:rPr lang="ko-KR" altLang="en-US" sz="1000" dirty="0"/>
                        <a:t>기반 메시지 지연 발생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외부 실제 제어기와 실시간 연동 어려움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45479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Gazebo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100~</a:t>
                      </a:r>
                      <a:r>
                        <a:rPr lang="ko-KR" altLang="en-US" sz="1200" dirty="0"/>
                        <a:t>수백 </a:t>
                      </a:r>
                      <a:r>
                        <a:rPr lang="en-US" altLang="ko-KR" sz="1200" dirty="0"/>
                        <a:t>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100 ~ </a:t>
                      </a:r>
                      <a:r>
                        <a:rPr lang="ko-KR" altLang="en-US" sz="1200" dirty="0"/>
                        <a:t>수백 </a:t>
                      </a:r>
                      <a:r>
                        <a:rPr lang="en-US" altLang="ko-KR" sz="1200" dirty="0"/>
                        <a:t>Hz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 err="1"/>
                        <a:t>MAVLink</a:t>
                      </a:r>
                      <a:r>
                        <a:rPr lang="en-US" altLang="ko-KR" sz="1000" dirty="0"/>
                        <a:t>/ROS </a:t>
                      </a:r>
                      <a:r>
                        <a:rPr lang="ko-KR" altLang="en-US" sz="1000" dirty="0"/>
                        <a:t>기반 지연과 </a:t>
                      </a:r>
                      <a:r>
                        <a:rPr lang="ko-KR" altLang="en-US" sz="1000" dirty="0" err="1"/>
                        <a:t>지터</a:t>
                      </a:r>
                      <a:r>
                        <a:rPr lang="ko-KR" altLang="en-US" sz="1000" dirty="0"/>
                        <a:t> 매우 크게 발생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7696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 err="1"/>
                        <a:t>AirSim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333 Hz 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(RPC </a:t>
                      </a:r>
                      <a:r>
                        <a:rPr lang="ko-KR" altLang="en-US" sz="1200" dirty="0"/>
                        <a:t>사용 측정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333 Hz</a:t>
                      </a:r>
                    </a:p>
                    <a:p>
                      <a:pPr algn="ctr" latinLnBrk="1"/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프레임 기반 제어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dirty="0"/>
                        <a:t>RPC</a:t>
                      </a:r>
                      <a:r>
                        <a:rPr lang="ko-KR" altLang="en-US" sz="1000" dirty="0"/>
                        <a:t> 지연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 err="1"/>
                        <a:t>지터</a:t>
                      </a:r>
                      <a:r>
                        <a:rPr lang="ko-KR" altLang="en-US" sz="1000" dirty="0"/>
                        <a:t> 발생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0932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/>
                        <a:t>MATLAB</a:t>
                      </a:r>
                    </a:p>
                    <a:p>
                      <a:pPr latinLnBrk="1"/>
                      <a:r>
                        <a:rPr lang="en-US" altLang="ko-KR" sz="1200" dirty="0"/>
                        <a:t>/Simulink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정의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ko-KR" altLang="en-US" sz="1200" dirty="0"/>
                        <a:t> 실시간성 부족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정의 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en-US" altLang="ko-KR" sz="1200" dirty="0"/>
                        <a:t>RTOS </a:t>
                      </a:r>
                      <a:r>
                        <a:rPr lang="ko-KR" altLang="en-US" sz="1200" dirty="0"/>
                        <a:t>없음 → 고주파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블록 모델 </a:t>
                      </a:r>
                      <a:r>
                        <a:rPr lang="en-US" altLang="ko-KR" sz="1000" dirty="0"/>
                        <a:t>+ MATLAB </a:t>
                      </a:r>
                      <a:r>
                        <a:rPr lang="ko-KR" altLang="en-US" sz="1000" dirty="0"/>
                        <a:t>스크립트로 구성 → </a:t>
                      </a:r>
                      <a:r>
                        <a:rPr lang="ko-KR" altLang="en-US" sz="1000" b="1" dirty="0"/>
                        <a:t>실시간 실행에 부적합</a:t>
                      </a:r>
                      <a:endParaRPr lang="en-US" altLang="ko-KR" sz="1000" b="1" dirty="0"/>
                    </a:p>
                    <a:p>
                      <a:pPr latinLnBrk="1"/>
                      <a:r>
                        <a:rPr lang="en-US" altLang="ko-KR" sz="1000" dirty="0"/>
                        <a:t>MATLAB </a:t>
                      </a:r>
                      <a:r>
                        <a:rPr lang="ko-KR" altLang="en-US" sz="1000" dirty="0"/>
                        <a:t>스크립트는 </a:t>
                      </a:r>
                      <a:r>
                        <a:rPr lang="ko-KR" altLang="en-US" sz="1000" b="1" dirty="0"/>
                        <a:t>인터프리터 방식</a:t>
                      </a:r>
                      <a:r>
                        <a:rPr lang="ko-KR" altLang="en-US" sz="1000" dirty="0"/>
                        <a:t> → 고주파</a:t>
                      </a:r>
                      <a:r>
                        <a:rPr lang="en-US" altLang="ko-KR" sz="1000" dirty="0"/>
                        <a:t>(&gt;1 kHz) </a:t>
                      </a:r>
                      <a:r>
                        <a:rPr lang="ko-KR" altLang="en-US" sz="1000" dirty="0"/>
                        <a:t>루프 구현 매우 어려움</a:t>
                      </a:r>
                      <a:endParaRPr lang="en-US" altLang="ko-KR" sz="1000" dirty="0"/>
                    </a:p>
                    <a:p>
                      <a:pPr latinLnBrk="1"/>
                      <a:r>
                        <a:rPr lang="ko-KR" altLang="en-US" sz="1000" dirty="0"/>
                        <a:t>실시간 스케줄러</a:t>
                      </a:r>
                      <a:r>
                        <a:rPr lang="en-US" altLang="ko-KR" sz="1000" dirty="0"/>
                        <a:t>(RTOS)</a:t>
                      </a:r>
                      <a:r>
                        <a:rPr lang="ko-KR" altLang="en-US" sz="1000" dirty="0"/>
                        <a:t>가 존재하지 않는다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16036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F5029F0-7163-6DD9-59E8-075D041979B1}"/>
              </a:ext>
            </a:extLst>
          </p:cNvPr>
          <p:cNvSpPr txBox="1"/>
          <p:nvPr/>
        </p:nvSpPr>
        <p:spPr>
          <a:xfrm>
            <a:off x="496570" y="349177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현재 시뮬레이터 종류 비교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B8A0-22B8-584A-E921-6332E45921C7}"/>
              </a:ext>
            </a:extLst>
          </p:cNvPr>
          <p:cNvSpPr txBox="1"/>
          <p:nvPr/>
        </p:nvSpPr>
        <p:spPr>
          <a:xfrm>
            <a:off x="359246" y="6099188"/>
            <a:ext cx="111723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* </a:t>
            </a:r>
            <a:r>
              <a:rPr lang="ko-KR" altLang="en-US" sz="1200" dirty="0"/>
              <a:t>로봇 시뮬레이터가 아닌 환경에서는 물리엔진</a:t>
            </a:r>
            <a:r>
              <a:rPr lang="en-US" altLang="ko-KR" sz="1200" dirty="0"/>
              <a:t>·</a:t>
            </a:r>
            <a:r>
              <a:rPr lang="ko-KR" altLang="en-US" sz="1200" dirty="0"/>
              <a:t>센서모델</a:t>
            </a:r>
            <a:r>
              <a:rPr lang="en-US" altLang="ko-KR" sz="1200" dirty="0"/>
              <a:t>·</a:t>
            </a:r>
            <a:r>
              <a:rPr lang="ko-KR" altLang="en-US" sz="1200" dirty="0"/>
              <a:t>환경 상호작용</a:t>
            </a:r>
            <a:r>
              <a:rPr lang="en-US" altLang="ko-KR" sz="1200" dirty="0"/>
              <a:t>·</a:t>
            </a:r>
            <a:r>
              <a:rPr lang="ko-KR" altLang="en-US" sz="1200" dirty="0"/>
              <a:t>실시간 루프</a:t>
            </a:r>
            <a:r>
              <a:rPr lang="en-US" altLang="ko-KR" sz="1200" dirty="0"/>
              <a:t>·</a:t>
            </a:r>
            <a:r>
              <a:rPr lang="ko-KR" altLang="en-US" sz="1200" dirty="0"/>
              <a:t>통신까지 모두 직접 구현해야 하므로 개발 난도가 급격히 높아진다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pic>
        <p:nvPicPr>
          <p:cNvPr id="16" name="그림 15" descr="텍스트, 도표, 스크린샷, 지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4D919B-D323-FF83-CA7D-EDE06A18E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4443" y="134303"/>
            <a:ext cx="5784427" cy="325374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259D321-A16C-73E5-6FA1-7245053F9BCD}"/>
              </a:ext>
            </a:extLst>
          </p:cNvPr>
          <p:cNvSpPr txBox="1"/>
          <p:nvPr/>
        </p:nvSpPr>
        <p:spPr>
          <a:xfrm>
            <a:off x="5381413" y="3366221"/>
            <a:ext cx="5777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/>
              <a:t>[</a:t>
            </a:r>
            <a:r>
              <a:rPr lang="en-US" altLang="ko-KR" sz="1400" b="1" dirty="0" err="1"/>
              <a:t>AirSim</a:t>
            </a:r>
            <a:r>
              <a:rPr lang="en-US" altLang="ko-KR" sz="1400" b="1" dirty="0"/>
              <a:t> Architecture]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929535-279D-43AA-E47A-239DBB977150}"/>
              </a:ext>
            </a:extLst>
          </p:cNvPr>
          <p:cNvSpPr txBox="1"/>
          <p:nvPr/>
        </p:nvSpPr>
        <p:spPr>
          <a:xfrm>
            <a:off x="359246" y="6443459"/>
            <a:ext cx="11172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/>
              <a:t>1 [Source: https://microsoft.github.io/AirSim/design/#architecture]</a:t>
            </a:r>
            <a:endParaRPr lang="ko-KR" altLang="en-US" sz="800" b="1" dirty="0"/>
          </a:p>
        </p:txBody>
      </p:sp>
    </p:spTree>
    <p:extLst>
      <p:ext uri="{BB962C8B-B14F-4D97-AF65-F5344CB8AC3E}">
        <p14:creationId xmlns:p14="http://schemas.microsoft.com/office/powerpoint/2010/main" val="15724604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D9425-3F13-4F11-DC7F-4D0F5EC00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C2CE64-D29B-9524-3657-681DCEB87C71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2. </a:t>
            </a:r>
            <a:r>
              <a:rPr lang="ko-KR" altLang="en-US" b="1" dirty="0">
                <a:latin typeface="+mj-lt"/>
              </a:rPr>
              <a:t>문제점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1D56B3-6F66-D517-E882-4470CD9A4621}"/>
              </a:ext>
            </a:extLst>
          </p:cNvPr>
          <p:cNvSpPr txBox="1"/>
          <p:nvPr/>
        </p:nvSpPr>
        <p:spPr>
          <a:xfrm>
            <a:off x="602779" y="752149"/>
            <a:ext cx="1117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2.1 </a:t>
            </a:r>
            <a:r>
              <a:rPr lang="ko-KR" altLang="en-US" sz="1600" b="1" dirty="0"/>
              <a:t>센서 모델 불일치 문제</a:t>
            </a:r>
            <a:endParaRPr lang="en-US" altLang="ko-KR" sz="1600" b="1" dirty="0"/>
          </a:p>
          <a:p>
            <a:r>
              <a:rPr lang="ko-KR" altLang="en-US" sz="1600" dirty="0"/>
              <a:t>고주파 </a:t>
            </a:r>
            <a:r>
              <a:rPr lang="en-US" altLang="ko-KR" sz="1600" dirty="0"/>
              <a:t>IMU → </a:t>
            </a:r>
            <a:r>
              <a:rPr lang="ko-KR" altLang="en-US" sz="1600" dirty="0"/>
              <a:t>저주파 시뮬레이터에서는 진동</a:t>
            </a:r>
            <a:r>
              <a:rPr lang="en-US" altLang="ko-KR" sz="1600" dirty="0"/>
              <a:t>/</a:t>
            </a:r>
            <a:r>
              <a:rPr lang="ko-KR" altLang="en-US" sz="1600" dirty="0" err="1"/>
              <a:t>외란</a:t>
            </a:r>
            <a:r>
              <a:rPr lang="en-US" altLang="ko-KR" sz="1600" dirty="0"/>
              <a:t>/</a:t>
            </a:r>
            <a:r>
              <a:rPr lang="ko-KR" altLang="en-US" sz="1600" dirty="0"/>
              <a:t>가속도 패턴이 전혀 다르게 나타남</a:t>
            </a:r>
            <a:endParaRPr lang="en-US" altLang="ko-KR" sz="1600" dirty="0"/>
          </a:p>
          <a:p>
            <a:r>
              <a:rPr lang="ko-KR" altLang="en-US" sz="1600" dirty="0"/>
              <a:t> → 시뮬레이션 튜닝이 실기체에서 실패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b="1" dirty="0"/>
          </a:p>
          <a:p>
            <a:r>
              <a:rPr lang="en-US" altLang="ko-KR" sz="1600" b="1" dirty="0"/>
              <a:t>2.2 </a:t>
            </a:r>
            <a:r>
              <a:rPr lang="ko-KR" altLang="en-US" sz="1600" b="1" dirty="0"/>
              <a:t>제어 루프 불일치 문제</a:t>
            </a:r>
            <a:endParaRPr lang="en-US" altLang="ko-KR" sz="1600" b="1" dirty="0"/>
          </a:p>
          <a:p>
            <a:r>
              <a:rPr lang="ko-KR" altLang="en-US" sz="1600" dirty="0" err="1"/>
              <a:t>실기체</a:t>
            </a:r>
            <a:r>
              <a:rPr lang="en-US" altLang="ko-KR" sz="1600" dirty="0"/>
              <a:t>(1~32 kHz) vs </a:t>
            </a:r>
            <a:r>
              <a:rPr lang="ko-KR" altLang="en-US" sz="1600" dirty="0"/>
              <a:t>시뮬레이터</a:t>
            </a:r>
            <a:r>
              <a:rPr lang="en-US" altLang="ko-KR" sz="1600" dirty="0"/>
              <a:t>(100~1 kHz)</a:t>
            </a:r>
            <a:br>
              <a:rPr lang="en-US" altLang="ko-KR" sz="1600" dirty="0"/>
            </a:br>
            <a:r>
              <a:rPr lang="ko-KR" altLang="en-US" sz="1600" dirty="0"/>
              <a:t> → 제어 응답</a:t>
            </a:r>
            <a:r>
              <a:rPr lang="en-US" altLang="ko-KR" sz="1600" dirty="0"/>
              <a:t>, </a:t>
            </a:r>
            <a:r>
              <a:rPr lang="ko-KR" altLang="en-US" sz="1600" dirty="0"/>
              <a:t>안정성</a:t>
            </a:r>
            <a:r>
              <a:rPr lang="en-US" altLang="ko-KR" sz="1600" dirty="0"/>
              <a:t>, overshoot/undershoot </a:t>
            </a:r>
            <a:r>
              <a:rPr lang="ko-KR" altLang="en-US" sz="1600" dirty="0"/>
              <a:t>전부 달라짐</a:t>
            </a:r>
            <a:endParaRPr lang="en-US" altLang="ko-KR" sz="1600" dirty="0"/>
          </a:p>
          <a:p>
            <a:endParaRPr lang="ko-KR" altLang="en-US" sz="1600" dirty="0"/>
          </a:p>
          <a:p>
            <a:endParaRPr lang="en-US" altLang="ko-KR" sz="1600" b="1" dirty="0"/>
          </a:p>
          <a:p>
            <a:r>
              <a:rPr lang="en-US" altLang="ko-KR" sz="1600" b="1" dirty="0"/>
              <a:t>2.3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(latency)·</a:t>
            </a:r>
            <a:r>
              <a:rPr lang="ko-KR" altLang="en-US" sz="1600" b="1" dirty="0" err="1"/>
              <a:t>지터</a:t>
            </a:r>
            <a:r>
              <a:rPr lang="en-US" altLang="ko-KR" sz="1600" b="1" dirty="0"/>
              <a:t>(jitter) </a:t>
            </a:r>
            <a:r>
              <a:rPr lang="ko-KR" altLang="en-US" sz="1600" b="1" dirty="0"/>
              <a:t>문제</a:t>
            </a:r>
          </a:p>
          <a:p>
            <a:r>
              <a:rPr lang="en-US" altLang="ko-KR" sz="1600" dirty="0"/>
              <a:t>Gazebo / </a:t>
            </a:r>
            <a:r>
              <a:rPr lang="en-US" altLang="ko-KR" sz="1600" dirty="0" err="1"/>
              <a:t>AirSim</a:t>
            </a:r>
            <a:r>
              <a:rPr lang="en-US" altLang="ko-KR" sz="1600" dirty="0"/>
              <a:t> / ROS / RPC / </a:t>
            </a:r>
            <a:r>
              <a:rPr lang="en-US" altLang="ko-KR" sz="1600" dirty="0" err="1"/>
              <a:t>MAVLink</a:t>
            </a:r>
            <a:r>
              <a:rPr lang="en-US" altLang="ko-KR" sz="1600" dirty="0"/>
              <a:t> </a:t>
            </a:r>
            <a:r>
              <a:rPr lang="ko-KR" altLang="en-US" sz="1600" dirty="0"/>
              <a:t>데이터 통신의</a:t>
            </a:r>
            <a:r>
              <a:rPr lang="en-US" altLang="ko-KR" sz="1600" dirty="0"/>
              <a:t> </a:t>
            </a:r>
            <a:r>
              <a:rPr lang="ko-KR" altLang="en-US" sz="1600" dirty="0"/>
              <a:t>구조적 한계</a:t>
            </a:r>
            <a:br>
              <a:rPr lang="ko-KR" altLang="en-US" sz="1600" dirty="0"/>
            </a:br>
            <a:r>
              <a:rPr lang="ko-KR" altLang="en-US" sz="1600" dirty="0"/>
              <a:t> → 실시간성 보장 불가 → 고주파 테스트 절대 불가</a:t>
            </a:r>
          </a:p>
          <a:p>
            <a:endParaRPr lang="en-US" altLang="ko-KR" sz="1600" dirty="0"/>
          </a:p>
          <a:p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27739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3415E-249B-4704-FF73-323C681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16F55F-95D4-E301-2F3A-F76E96B26ECF}"/>
              </a:ext>
            </a:extLst>
          </p:cNvPr>
          <p:cNvSpPr txBox="1"/>
          <p:nvPr/>
        </p:nvSpPr>
        <p:spPr>
          <a:xfrm>
            <a:off x="406871" y="173267"/>
            <a:ext cx="11077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+mj-lt"/>
              </a:rPr>
              <a:t>3. </a:t>
            </a:r>
            <a:r>
              <a:rPr lang="ko-KR" altLang="en-US" b="1" dirty="0">
                <a:latin typeface="+mj-lt"/>
              </a:rPr>
              <a:t>연구 목표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312E6D-1C52-4C8A-7CD6-943C0DF809F6}"/>
              </a:ext>
            </a:extLst>
          </p:cNvPr>
          <p:cNvSpPr txBox="1"/>
          <p:nvPr/>
        </p:nvSpPr>
        <p:spPr>
          <a:xfrm>
            <a:off x="583729" y="752149"/>
            <a:ext cx="1117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3.1 </a:t>
            </a:r>
            <a:r>
              <a:rPr lang="ko-KR" altLang="en-US" sz="1600" b="1" dirty="0"/>
              <a:t>고주파 </a:t>
            </a:r>
            <a:r>
              <a:rPr lang="en-US" altLang="ko-KR" sz="1600" b="1" dirty="0"/>
              <a:t>IMU </a:t>
            </a:r>
            <a:r>
              <a:rPr lang="ko-KR" altLang="en-US" sz="1600" b="1" dirty="0"/>
              <a:t>센서 루프 재현</a:t>
            </a:r>
            <a:endParaRPr lang="en-US" altLang="ko-KR" sz="1600" b="1" dirty="0"/>
          </a:p>
          <a:p>
            <a:r>
              <a:rPr lang="en-US" altLang="ko-KR" sz="1600" dirty="0"/>
              <a:t> - </a:t>
            </a:r>
            <a:r>
              <a:rPr lang="ko-KR" altLang="en-US" sz="1600" dirty="0" err="1"/>
              <a:t>실기체</a:t>
            </a:r>
            <a:r>
              <a:rPr lang="ko-KR" altLang="en-US" sz="1600" dirty="0"/>
              <a:t> </a:t>
            </a:r>
            <a:r>
              <a:rPr lang="en-US" altLang="ko-KR" sz="1600" dirty="0"/>
              <a:t>IMU </a:t>
            </a:r>
            <a:r>
              <a:rPr lang="ko-KR" altLang="en-US" sz="1600" dirty="0"/>
              <a:t>수준의 고주파</a:t>
            </a:r>
            <a:r>
              <a:rPr lang="en-US" altLang="ko-KR" sz="1600" dirty="0"/>
              <a:t>(8~32 kHz)</a:t>
            </a:r>
            <a:r>
              <a:rPr lang="ko-KR" altLang="en-US" sz="1600" dirty="0"/>
              <a:t> 출력 데이터 생성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3.2 </a:t>
            </a:r>
            <a:r>
              <a:rPr lang="ko-KR" altLang="en-US" sz="1600" b="1" dirty="0"/>
              <a:t>고주파 제어 루프</a:t>
            </a:r>
            <a:r>
              <a:rPr lang="en-US" altLang="ko-KR" sz="1600" b="1" dirty="0"/>
              <a:t>(Attitude Loop) </a:t>
            </a:r>
            <a:r>
              <a:rPr lang="ko-KR" altLang="en-US" sz="1600" b="1" dirty="0"/>
              <a:t>실시간 처리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 err="1"/>
              <a:t>실기체</a:t>
            </a:r>
            <a:r>
              <a:rPr lang="ko-KR" altLang="en-US" sz="1600" dirty="0"/>
              <a:t> </a:t>
            </a:r>
            <a:r>
              <a:rPr lang="en-US" altLang="ko-KR" sz="1600" dirty="0"/>
              <a:t>FC </a:t>
            </a:r>
            <a:r>
              <a:rPr lang="ko-KR" altLang="en-US" sz="1600" dirty="0"/>
              <a:t>수준의 </a:t>
            </a:r>
            <a:r>
              <a:rPr lang="en-US" altLang="ko-KR" sz="1600" dirty="0"/>
              <a:t>1~8 kHz </a:t>
            </a:r>
            <a:r>
              <a:rPr lang="ko-KR" altLang="en-US" sz="1600" dirty="0"/>
              <a:t>제어 루프 구현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b="1" dirty="0"/>
              <a:t>3.3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(latency), </a:t>
            </a:r>
            <a:r>
              <a:rPr lang="ko-KR" altLang="en-US" sz="1600" b="1" dirty="0" err="1"/>
              <a:t>지터</a:t>
            </a:r>
            <a:r>
              <a:rPr lang="en-US" altLang="ko-KR" sz="1600" b="1" dirty="0"/>
              <a:t>(jitter) </a:t>
            </a:r>
            <a:r>
              <a:rPr lang="ko-KR" altLang="en-US" sz="1600" b="1" dirty="0"/>
              <a:t>없는 실시간 구조 설계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/>
              <a:t>네트워크</a:t>
            </a:r>
            <a:r>
              <a:rPr lang="en-US" altLang="ko-KR" sz="1600" dirty="0"/>
              <a:t>·RPC </a:t>
            </a:r>
            <a:r>
              <a:rPr lang="ko-KR" altLang="en-US" sz="1600" dirty="0"/>
              <a:t>기반 통신을 사용하지 않는 고정 주기 실행 엔진 구축</a:t>
            </a:r>
            <a:endParaRPr lang="en-US" altLang="ko-KR" sz="1600" dirty="0"/>
          </a:p>
          <a:p>
            <a:pPr marL="285750" indent="-285750">
              <a:buFontTx/>
              <a:buChar char="-"/>
            </a:pPr>
            <a:endParaRPr lang="en-US" altLang="ko-KR" sz="1600" dirty="0"/>
          </a:p>
          <a:p>
            <a:r>
              <a:rPr lang="en-US" altLang="ko-KR" sz="1600" b="1" dirty="0"/>
              <a:t>3.4 </a:t>
            </a:r>
            <a:r>
              <a:rPr lang="ko-KR" altLang="en-US" sz="1600" b="1" dirty="0"/>
              <a:t>제안된 시뮬레이터의 실시간</a:t>
            </a:r>
            <a:r>
              <a:rPr lang="en-US" altLang="ko-KR" sz="1600" b="1" dirty="0"/>
              <a:t>·</a:t>
            </a:r>
            <a:r>
              <a:rPr lang="ko-KR" altLang="en-US" sz="1600" b="1" dirty="0"/>
              <a:t>고주파 성능 검증</a:t>
            </a:r>
            <a:endParaRPr lang="en-US" altLang="ko-KR" sz="1600" b="1" dirty="0"/>
          </a:p>
          <a:p>
            <a:r>
              <a:rPr lang="en-US" altLang="ko-KR" sz="1600" dirty="0"/>
              <a:t>- </a:t>
            </a:r>
            <a:r>
              <a:rPr lang="ko-KR" altLang="en-US" sz="1600" dirty="0"/>
              <a:t>센서</a:t>
            </a:r>
            <a:r>
              <a:rPr lang="en-US" altLang="ko-KR" sz="1600" dirty="0"/>
              <a:t>/</a:t>
            </a:r>
            <a:r>
              <a:rPr lang="ko-KR" altLang="en-US" sz="1600" dirty="0"/>
              <a:t>제어 루프의 </a:t>
            </a:r>
            <a:r>
              <a:rPr lang="ko-KR" altLang="en-US" sz="1600" b="1" dirty="0"/>
              <a:t>시간 정확도</a:t>
            </a:r>
            <a:r>
              <a:rPr lang="en-US" altLang="ko-KR" sz="1600" b="1" dirty="0"/>
              <a:t>(Time Determinism) </a:t>
            </a:r>
            <a:r>
              <a:rPr lang="ko-KR" altLang="en-US" sz="1600" b="1" dirty="0"/>
              <a:t>측정</a:t>
            </a:r>
            <a:endParaRPr lang="en-US" altLang="ko-KR" sz="1600" b="1" dirty="0"/>
          </a:p>
          <a:p>
            <a:r>
              <a:rPr lang="en-US" altLang="ko-KR" sz="1600" b="1" dirty="0"/>
              <a:t>- </a:t>
            </a:r>
            <a:r>
              <a:rPr lang="ko-KR" altLang="en-US" sz="1600" b="1" dirty="0"/>
              <a:t>지연</a:t>
            </a:r>
            <a:r>
              <a:rPr lang="en-US" altLang="ko-KR" sz="1600" b="1" dirty="0"/>
              <a:t>·</a:t>
            </a:r>
            <a:r>
              <a:rPr lang="ko-KR" altLang="en-US" sz="1600" b="1" dirty="0" err="1"/>
              <a:t>지터</a:t>
            </a:r>
            <a:r>
              <a:rPr lang="ko-KR" altLang="en-US" sz="1600" b="1" dirty="0"/>
              <a:t> 분석</a:t>
            </a:r>
            <a:r>
              <a:rPr lang="ko-KR" altLang="en-US" sz="1600" dirty="0"/>
              <a:t>을 통한 기존 시뮬레이터 대비 성능 비교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3.5 </a:t>
            </a:r>
            <a:r>
              <a:rPr lang="ko-KR" altLang="en-US" sz="1600" b="1" dirty="0"/>
              <a:t>비행 시나리오 기반 비행 안정성</a:t>
            </a:r>
            <a:r>
              <a:rPr lang="en-US" altLang="ko-KR" sz="1600" b="1" dirty="0"/>
              <a:t>(Flight Dynamics) </a:t>
            </a:r>
            <a:r>
              <a:rPr lang="ko-KR" altLang="en-US" sz="1600" b="1" dirty="0"/>
              <a:t>검증</a:t>
            </a:r>
            <a:br>
              <a:rPr lang="ko-KR" altLang="en-US" sz="1600" dirty="0"/>
            </a:br>
            <a:r>
              <a:rPr lang="en-US" altLang="ko-KR" sz="1600" dirty="0"/>
              <a:t>– </a:t>
            </a:r>
            <a:r>
              <a:rPr lang="ko-KR" altLang="en-US" sz="1600" dirty="0"/>
              <a:t>호버링</a:t>
            </a:r>
            <a:r>
              <a:rPr lang="en-US" altLang="ko-KR" sz="1600" dirty="0"/>
              <a:t>, </a:t>
            </a:r>
            <a:r>
              <a:rPr lang="ko-KR" altLang="en-US" sz="1600" dirty="0"/>
              <a:t>스텝 응답</a:t>
            </a:r>
            <a:r>
              <a:rPr lang="en-US" altLang="ko-KR" sz="1600" dirty="0"/>
              <a:t>, yaw </a:t>
            </a:r>
            <a:r>
              <a:rPr lang="ko-KR" altLang="en-US" sz="1600" dirty="0" err="1"/>
              <a:t>스윕</a:t>
            </a:r>
            <a:r>
              <a:rPr lang="ko-KR" altLang="en-US" sz="1600" dirty="0"/>
              <a:t> 등 단순 시나리오를 통한 제안 구조의 비행 가능성 검증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10924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TM03457515[[fn=보기]]</Template>
  <TotalTime>896</TotalTime>
  <Words>769</Words>
  <Application>Microsoft Office PowerPoint</Application>
  <PresentationFormat>와이드스크린</PresentationFormat>
  <Paragraphs>125</Paragraphs>
  <Slides>8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odes n</dc:creator>
  <cp:lastModifiedBy>인투 스카이2</cp:lastModifiedBy>
  <cp:revision>17</cp:revision>
  <dcterms:created xsi:type="dcterms:W3CDTF">2025-12-09T13:25:44Z</dcterms:created>
  <dcterms:modified xsi:type="dcterms:W3CDTF">2025-12-11T13:01:57Z</dcterms:modified>
</cp:coreProperties>
</file>