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9" r:id="rId2"/>
    <p:sldId id="260" r:id="rId3"/>
    <p:sldId id="256" r:id="rId4"/>
    <p:sldId id="257" r:id="rId5"/>
    <p:sldId id="258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BD7E-A3BC-6889-5459-01802952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A1F2BC-C11E-788E-D978-44D0BE54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8AA1E-F4D2-60C7-95BB-B249DC715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FDA875-124B-0410-25F1-333EC2583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11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037FE-E336-289B-E67B-42FACD4D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4B3AF4-9EE8-4550-5EF4-F2DEBFC08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A857F6-7572-4F04-F1A8-6A52BBA69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FDE07-6546-9F56-1DDE-AC10DA20F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2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03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FFEA-B934-DA44-3F2F-0680FF21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45ABC-D864-A051-CD99-CAFE932D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41332-38E3-900D-7857-B04BC4C54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866E6-F1FC-07B9-68DA-050AF91E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920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CDCF-AF50-3F5C-E694-ABC01B21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284E67-05D9-99AC-3247-A49858367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A1C473-F509-C3DE-542F-DE9AD1A39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419462-84B4-28A6-DB3B-998950A37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21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dupilot.org/copter/docs/parameters.html#ins-gyro-rate-gyro-rate-for-imus-with-fast-sampling-enable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px4.io/main/en/advanced_config/parameter_reference#IMU_GYRO_RATEMA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0D866-960D-BB98-E567-A212C87CD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F3DAEB-06FC-47EE-A2B6-67730988918D}"/>
              </a:ext>
            </a:extLst>
          </p:cNvPr>
          <p:cNvSpPr txBox="1"/>
          <p:nvPr/>
        </p:nvSpPr>
        <p:spPr>
          <a:xfrm>
            <a:off x="0" y="3059668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실시간 고주파 센서</a:t>
            </a:r>
            <a:r>
              <a:rPr lang="en-US" altLang="ko-KR" sz="2000" b="1" dirty="0"/>
              <a:t>·</a:t>
            </a:r>
            <a:r>
              <a:rPr lang="ko-KR" altLang="en-US" sz="2000" b="1" dirty="0"/>
              <a:t>제어 루프 처리를 위한 </a:t>
            </a:r>
            <a:r>
              <a:rPr lang="ko-KR" altLang="en-US" sz="2000" b="1" dirty="0" err="1"/>
              <a:t>드론</a:t>
            </a:r>
            <a:r>
              <a:rPr lang="ko-KR" altLang="en-US" sz="2000" b="1" dirty="0"/>
              <a:t> 시뮬레이션 플랫폼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73F874-25EC-3F37-2025-19D2EBEA48CF}"/>
              </a:ext>
            </a:extLst>
          </p:cNvPr>
          <p:cNvSpPr txBox="1"/>
          <p:nvPr/>
        </p:nvSpPr>
        <p:spPr>
          <a:xfrm>
            <a:off x="10483850" y="6581001"/>
            <a:ext cx="1708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2025. 12. 10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2448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F936-E10C-0132-BD2B-2A37F6EE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D8605-EF16-2F55-32A4-F749B94F29A5}"/>
              </a:ext>
            </a:extLst>
          </p:cNvPr>
          <p:cNvSpPr txBox="1"/>
          <p:nvPr/>
        </p:nvSpPr>
        <p:spPr>
          <a:xfrm>
            <a:off x="1212850" y="965200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기술의 배경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문제점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연구의 목적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시뮬레이터 설계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실험결과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결론</a:t>
            </a:r>
          </a:p>
        </p:txBody>
      </p:sp>
    </p:spTree>
    <p:extLst>
      <p:ext uri="{BB962C8B-B14F-4D97-AF65-F5344CB8AC3E}">
        <p14:creationId xmlns:p14="http://schemas.microsoft.com/office/powerpoint/2010/main" val="1507531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/>
              <a:t> 자세 제어 루프의 실시간성 요구사항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65605" y="865257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IMU</a:t>
            </a:r>
            <a:r>
              <a:rPr lang="ko-KR" altLang="en-US" sz="1600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 +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23046" y="865256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PID </a:t>
            </a:r>
            <a:r>
              <a:rPr lang="ko-KR" altLang="en-US" sz="1600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26774" y="1269858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693775" y="86525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PWM</a:t>
            </a:r>
            <a:r>
              <a:rPr lang="ko-KR" altLang="en-US" sz="1600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384215" y="1269857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41074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en-US" altLang="ko-KR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54145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65604" y="167445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23046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64504" y="86377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68431" y="1268377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581918" y="957587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693775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64504" y="167297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394735" y="2205180"/>
            <a:ext cx="1133093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</a:t>
            </a:r>
            <a:r>
              <a:rPr lang="en-US" altLang="ko-KR" sz="1600" dirty="0"/>
              <a:t>IMU</a:t>
            </a:r>
            <a:r>
              <a:rPr lang="ko-KR" altLang="en-US" sz="1600" dirty="0"/>
              <a:t>센서는 </a:t>
            </a:r>
            <a:r>
              <a:rPr lang="en-US" altLang="ko-KR" sz="1600" dirty="0"/>
              <a:t>1~32 kHz</a:t>
            </a:r>
            <a:r>
              <a:rPr lang="ko-KR" altLang="en-US" sz="1600" dirty="0"/>
              <a:t>의 고속 </a:t>
            </a:r>
            <a:r>
              <a:rPr lang="en-US" altLang="ko-KR" sz="1600" dirty="0"/>
              <a:t>ODR</a:t>
            </a:r>
            <a:r>
              <a:rPr lang="ko-KR" altLang="en-US" sz="1600" dirty="0"/>
              <a:t>로 동작하며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각 </a:t>
            </a:r>
            <a:r>
              <a:rPr lang="en-US" altLang="ko-KR" sz="1600" dirty="0"/>
              <a:t>Flight Controller</a:t>
            </a:r>
            <a:r>
              <a:rPr lang="ko-KR" altLang="en-US" sz="1600" dirty="0"/>
              <a:t>의 </a:t>
            </a:r>
            <a:r>
              <a:rPr lang="en-US" altLang="ko-KR" sz="1600" dirty="0"/>
              <a:t>Firmware</a:t>
            </a:r>
            <a:r>
              <a:rPr lang="ko-KR" altLang="en-US" sz="1600" dirty="0"/>
              <a:t>는 이에 맞춰 </a:t>
            </a:r>
            <a:r>
              <a:rPr lang="en-US" altLang="ko-KR" sz="1600" dirty="0"/>
              <a:t>1~32 kHz </a:t>
            </a:r>
            <a:r>
              <a:rPr lang="ko-KR" altLang="en-US" sz="1600" dirty="0"/>
              <a:t>범위의 </a:t>
            </a:r>
            <a:r>
              <a:rPr lang="en-US" altLang="ko-KR" sz="1600" dirty="0"/>
              <a:t>IMU(Inertial Measurement Unit) </a:t>
            </a:r>
            <a:r>
              <a:rPr lang="ko-KR" altLang="en-US" sz="1600" dirty="0"/>
              <a:t>처리 속도를 지원합니다</a:t>
            </a:r>
            <a:r>
              <a:rPr lang="en-US" altLang="ko-KR" sz="1600" dirty="0"/>
              <a:t>. </a:t>
            </a:r>
            <a:r>
              <a:rPr lang="ko-KR" altLang="en-US" sz="1600" dirty="0"/>
              <a:t>따라서 시뮬레이터에서도 최소 </a:t>
            </a:r>
            <a:r>
              <a:rPr lang="en-US" altLang="ko-KR" sz="1600" dirty="0"/>
              <a:t>1 kHz </a:t>
            </a:r>
            <a:r>
              <a:rPr lang="ko-KR" altLang="en-US" sz="1600" dirty="0"/>
              <a:t>이상의 센서</a:t>
            </a:r>
            <a:r>
              <a:rPr lang="en-US" altLang="ko-KR" sz="1600" dirty="0"/>
              <a:t>·</a:t>
            </a:r>
            <a:r>
              <a:rPr lang="ko-KR" altLang="en-US" sz="1600" dirty="0"/>
              <a:t>제어 루프가 필요하며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고성능 재현을 위해서는 펌웨어 수준의 고주파 </a:t>
            </a:r>
            <a:r>
              <a:rPr lang="en-US" altLang="ko-KR" sz="1600" dirty="0"/>
              <a:t>IMU </a:t>
            </a:r>
            <a:r>
              <a:rPr lang="ko-KR" altLang="en-US" sz="1600" dirty="0"/>
              <a:t>처리</a:t>
            </a:r>
            <a:r>
              <a:rPr lang="en-US" altLang="ko-KR" sz="1600" dirty="0"/>
              <a:t>(8~32 kHz)</a:t>
            </a:r>
            <a:r>
              <a:rPr lang="ko-KR" altLang="en-US" sz="1600" dirty="0"/>
              <a:t>를 반영해야 실기체와 동일한 비행 특성을 구현할 수 있습니다</a:t>
            </a:r>
            <a:r>
              <a:rPr lang="en-US" altLang="ko-KR" sz="1600" dirty="0"/>
              <a:t>.</a:t>
            </a:r>
            <a:endParaRPr lang="en-US" altLang="ko-KR" sz="1600" dirty="0">
              <a:effectLst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D8063F0A-E507-B75A-DF9F-0E94E1D6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585552"/>
              </p:ext>
            </p:extLst>
          </p:nvPr>
        </p:nvGraphicFramePr>
        <p:xfrm>
          <a:off x="459475" y="4000697"/>
          <a:ext cx="4423675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4879">
                  <a:extLst>
                    <a:ext uri="{9D8B030D-6E8A-4147-A177-3AD203B41FA5}">
                      <a16:colId xmlns:a16="http://schemas.microsoft.com/office/drawing/2014/main" val="3861258388"/>
                    </a:ext>
                  </a:extLst>
                </a:gridCol>
                <a:gridCol w="2878796">
                  <a:extLst>
                    <a:ext uri="{9D8B030D-6E8A-4147-A177-3AD203B41FA5}">
                      <a16:colId xmlns:a16="http://schemas.microsoft.com/office/drawing/2014/main" val="31917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 typeface="+mj-lt"/>
                        <a:buNone/>
                      </a:pPr>
                      <a:r>
                        <a:rPr lang="en-US" altLang="ko-KR" sz="1200" dirty="0"/>
                        <a:t>IMU</a:t>
                      </a:r>
                      <a:r>
                        <a:rPr lang="ko-KR" altLang="en-US" sz="1200" dirty="0"/>
                        <a:t>센서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최대 샘플링 속도</a:t>
                      </a:r>
                      <a:r>
                        <a:rPr lang="en-US" altLang="ko-KR" sz="1200" dirty="0"/>
                        <a:t>(ODR)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(Output Data Rate)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MPU–6000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32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ICM-42688p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32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892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ICM-20689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9810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7C9845F-9314-AB77-4D8A-AB6F0A4E3FDA}"/>
              </a:ext>
            </a:extLst>
          </p:cNvPr>
          <p:cNvSpPr txBox="1"/>
          <p:nvPr/>
        </p:nvSpPr>
        <p:spPr>
          <a:xfrm>
            <a:off x="459475" y="3672628"/>
            <a:ext cx="4423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실제 사용 </a:t>
            </a:r>
            <a:r>
              <a:rPr lang="en-US" altLang="ko-KR" sz="1600" dirty="0"/>
              <a:t>IMU </a:t>
            </a:r>
            <a:r>
              <a:rPr lang="ko-KR" altLang="en-US" sz="1600" dirty="0"/>
              <a:t>최대 </a:t>
            </a:r>
            <a:r>
              <a:rPr lang="en-US" altLang="ko-KR" sz="1600" dirty="0"/>
              <a:t>ODR </a:t>
            </a:r>
            <a:r>
              <a:rPr lang="ko-KR" altLang="en-US" sz="1600" dirty="0"/>
              <a:t>비교</a:t>
            </a:r>
            <a:endParaRPr lang="ko-KR" altLang="en-US" sz="1600" dirty="0">
              <a:effectLst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59475" y="5937419"/>
            <a:ext cx="11330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시뮬레이터에서 실기체와 동일한 동적 특성을 재현하려면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</a:t>
            </a:r>
            <a:r>
              <a:rPr lang="en-US" altLang="ko-KR" sz="1200" dirty="0"/>
              <a:t>IMU ODR </a:t>
            </a:r>
            <a:r>
              <a:rPr lang="ko-KR" altLang="en-US" sz="1200" dirty="0"/>
              <a:t>및 제어 루프 주기를 지원해야 하며</a:t>
            </a:r>
            <a:r>
              <a:rPr lang="en-US" altLang="ko-KR" sz="1200" dirty="0"/>
              <a:t>, </a:t>
            </a:r>
            <a:r>
              <a:rPr lang="ko-KR" altLang="en-US" sz="1200" dirty="0"/>
              <a:t>고성능 재현을 위해서는 </a:t>
            </a:r>
            <a:r>
              <a:rPr lang="en-US" altLang="ko-KR" sz="1200" dirty="0"/>
              <a:t>8 kHz </a:t>
            </a:r>
            <a:r>
              <a:rPr lang="ko-KR" altLang="en-US" sz="1200" dirty="0"/>
              <a:t>이상이 바람직하다</a:t>
            </a:r>
            <a:r>
              <a:rPr lang="en-US" altLang="ko-KR" sz="12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47334D-8D6C-0BBA-0A70-ADEB9A79A7CF}"/>
              </a:ext>
            </a:extLst>
          </p:cNvPr>
          <p:cNvSpPr txBox="1"/>
          <p:nvPr/>
        </p:nvSpPr>
        <p:spPr>
          <a:xfrm>
            <a:off x="5631021" y="3663942"/>
            <a:ext cx="5847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FC(Flight Controller) Firmware</a:t>
            </a:r>
            <a:r>
              <a:rPr lang="ko-KR" altLang="en-US" sz="1600" dirty="0"/>
              <a:t>별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속도</a:t>
            </a:r>
            <a:endParaRPr lang="ko-KR" altLang="en-US" sz="1600" dirty="0">
              <a:effectLst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57626F-0D6B-DD64-055A-B5ABE26F6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22111"/>
              </p:ext>
            </p:extLst>
          </p:nvPr>
        </p:nvGraphicFramePr>
        <p:xfrm>
          <a:off x="5631021" y="4000697"/>
          <a:ext cx="5847847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845">
                  <a:extLst>
                    <a:ext uri="{9D8B030D-6E8A-4147-A177-3AD203B41FA5}">
                      <a16:colId xmlns:a16="http://schemas.microsoft.com/office/drawing/2014/main" val="2050726570"/>
                    </a:ext>
                  </a:extLst>
                </a:gridCol>
                <a:gridCol w="1987550">
                  <a:extLst>
                    <a:ext uri="{9D8B030D-6E8A-4147-A177-3AD203B41FA5}">
                      <a16:colId xmlns:a16="http://schemas.microsoft.com/office/drawing/2014/main" val="3019296922"/>
                    </a:ext>
                  </a:extLst>
                </a:gridCol>
                <a:gridCol w="2076452">
                  <a:extLst>
                    <a:ext uri="{9D8B030D-6E8A-4147-A177-3AD203B41FA5}">
                      <a16:colId xmlns:a16="http://schemas.microsoft.com/office/drawing/2014/main" val="36083669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Firmware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IMU </a:t>
                      </a:r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9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Ardupilot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 ~ 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INS_GYRO_RATE </a:t>
                      </a:r>
                      <a:r>
                        <a:rPr lang="en-US" altLang="ko-KR" sz="800" b="1" dirty="0"/>
                        <a:t>[1]</a:t>
                      </a:r>
                      <a:endParaRPr lang="ko-KR" altLang="en-US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72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PX4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IMU_GYRO_RATEMAX </a:t>
                      </a:r>
                      <a:r>
                        <a:rPr lang="en-US" altLang="ko-KR" sz="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737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Betaflight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~ 32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2720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075B52-6628-5E30-6FA3-1A1C66F6DFAE}"/>
              </a:ext>
            </a:extLst>
          </p:cNvPr>
          <p:cNvSpPr txBox="1"/>
          <p:nvPr/>
        </p:nvSpPr>
        <p:spPr>
          <a:xfrm>
            <a:off x="359246" y="6443459"/>
            <a:ext cx="111723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</a:t>
            </a:r>
            <a:r>
              <a:rPr lang="en-US" altLang="ko-KR" sz="800" b="1" dirty="0">
                <a:hlinkClick r:id="rId3"/>
              </a:rPr>
              <a:t>https://ardupilot.org/copter/docs/parameters.html#ins-gyro-rate-gyro-rate-for-imus-with-fast-sampling-enabled</a:t>
            </a:r>
            <a:r>
              <a:rPr lang="en-US" altLang="ko-KR" sz="800" b="1" dirty="0"/>
              <a:t> ]</a:t>
            </a:r>
          </a:p>
          <a:p>
            <a:r>
              <a:rPr lang="en-US" altLang="ko-KR" sz="800" b="1" dirty="0"/>
              <a:t>2 [Source: </a:t>
            </a:r>
            <a:r>
              <a:rPr lang="en-US" altLang="ko-KR" sz="800" b="1" dirty="0">
                <a:hlinkClick r:id="rId4"/>
              </a:rPr>
              <a:t>https://docs.px4.io/main/en/advanced_config/parameter_reference#IMU_GYRO_RATEMAX</a:t>
            </a:r>
            <a:r>
              <a:rPr lang="en-US" altLang="ko-KR" sz="800" b="1" dirty="0"/>
              <a:t> - </a:t>
            </a:r>
            <a:r>
              <a:rPr lang="en-US" altLang="ko-KR" sz="800" dirty="0" err="1"/>
              <a:t>eg</a:t>
            </a:r>
            <a:r>
              <a:rPr lang="en-US" altLang="ko-KR" sz="800" dirty="0"/>
              <a:t> commonly 8 kHz</a:t>
            </a:r>
            <a:r>
              <a:rPr lang="en-US" altLang="ko-KR" sz="800" b="1" dirty="0"/>
              <a:t>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/>
              <a:t>기존 </a:t>
            </a:r>
            <a:r>
              <a:rPr lang="ko-KR" altLang="en-US" b="1" dirty="0" err="1"/>
              <a:t>시뮬레이</a:t>
            </a:r>
            <a:r>
              <a:rPr lang="ko-KR" altLang="en-US" b="1" dirty="0"/>
              <a:t> 구조와 한계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930A40C-3BEB-C393-4B5A-3289E7518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826371"/>
              </p:ext>
            </p:extLst>
          </p:nvPr>
        </p:nvGraphicFramePr>
        <p:xfrm>
          <a:off x="496570" y="3830333"/>
          <a:ext cx="10782300" cy="2181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230">
                  <a:extLst>
                    <a:ext uri="{9D8B030D-6E8A-4147-A177-3AD203B41FA5}">
                      <a16:colId xmlns:a16="http://schemas.microsoft.com/office/drawing/2014/main" val="4083537526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3413285053"/>
                    </a:ext>
                  </a:extLst>
                </a:gridCol>
                <a:gridCol w="2012950">
                  <a:extLst>
                    <a:ext uri="{9D8B030D-6E8A-4147-A177-3AD203B41FA5}">
                      <a16:colId xmlns:a16="http://schemas.microsoft.com/office/drawing/2014/main" val="3416323462"/>
                    </a:ext>
                  </a:extLst>
                </a:gridCol>
                <a:gridCol w="5411470">
                  <a:extLst>
                    <a:ext uri="{9D8B030D-6E8A-4147-A177-3AD203B41FA5}">
                      <a16:colId xmlns:a16="http://schemas.microsoft.com/office/drawing/2014/main" val="3554125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시뮬레이터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제어 루프 속도</a:t>
                      </a:r>
                      <a:endParaRPr lang="en-US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단점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한계</a:t>
                      </a:r>
                      <a:endParaRPr lang="en-US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214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SITL</a:t>
                      </a:r>
                      <a:br>
                        <a:rPr lang="en-US" altLang="ko-KR" sz="1200" dirty="0"/>
                      </a:br>
                      <a:r>
                        <a:rPr lang="en-US" altLang="ko-KR" sz="1050" dirty="0"/>
                        <a:t>(Software-In-The-Loop)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미지원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고주파 </a:t>
                      </a:r>
                      <a:r>
                        <a:rPr lang="en-US" altLang="ko-KR" sz="1000" dirty="0"/>
                        <a:t>IMU </a:t>
                      </a:r>
                      <a:r>
                        <a:rPr lang="ko-KR" altLang="en-US" sz="1000" dirty="0"/>
                        <a:t>루프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불가</a:t>
                      </a:r>
                      <a:r>
                        <a:rPr lang="en-US" altLang="ko-KR" sz="1000" dirty="0"/>
                        <a:t>, RPC </a:t>
                      </a:r>
                      <a:r>
                        <a:rPr lang="ko-KR" altLang="en-US" sz="1000" dirty="0"/>
                        <a:t>기반 메시지 지연 발생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외부 실제 제어기와 실시간 연동 어려움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54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Gazebo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100~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 ~ 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MAVLink</a:t>
                      </a:r>
                      <a:r>
                        <a:rPr lang="en-US" altLang="ko-KR" sz="1000" dirty="0"/>
                        <a:t>/ROS </a:t>
                      </a:r>
                      <a:r>
                        <a:rPr lang="ko-KR" altLang="en-US" sz="1000" dirty="0"/>
                        <a:t>기반 지연과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매우 크게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69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/>
                        <a:t>AirSim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 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(RPC </a:t>
                      </a:r>
                      <a:r>
                        <a:rPr lang="ko-KR" altLang="en-US" sz="1200" dirty="0"/>
                        <a:t>사용 측정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프레임 기반 제어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RPC</a:t>
                      </a:r>
                      <a:r>
                        <a:rPr lang="ko-KR" altLang="en-US" sz="1000" dirty="0"/>
                        <a:t> 지연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93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MATLAB</a:t>
                      </a:r>
                    </a:p>
                    <a:p>
                      <a:pPr latinLnBrk="1"/>
                      <a:r>
                        <a:rPr lang="en-US" altLang="ko-KR" sz="1200" dirty="0"/>
                        <a:t>/Simulink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 실시간성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RTOS </a:t>
                      </a:r>
                      <a:r>
                        <a:rPr lang="ko-KR" altLang="en-US" sz="1200" dirty="0"/>
                        <a:t>없음 → 고주파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블록 모델 </a:t>
                      </a:r>
                      <a:r>
                        <a:rPr lang="en-US" altLang="ko-KR" sz="1000" dirty="0"/>
                        <a:t>+ MATLAB </a:t>
                      </a:r>
                      <a:r>
                        <a:rPr lang="ko-KR" altLang="en-US" sz="1000" dirty="0"/>
                        <a:t>스크립트로 구성 → </a:t>
                      </a:r>
                      <a:r>
                        <a:rPr lang="ko-KR" altLang="en-US" sz="1000" b="1" dirty="0"/>
                        <a:t>실시간 실행에 부적합</a:t>
                      </a:r>
                      <a:endParaRPr lang="en-US" altLang="ko-KR" sz="1000" b="1" dirty="0"/>
                    </a:p>
                    <a:p>
                      <a:pPr latinLnBrk="1"/>
                      <a:r>
                        <a:rPr lang="en-US" altLang="ko-KR" sz="1000" dirty="0"/>
                        <a:t>MATLAB </a:t>
                      </a:r>
                      <a:r>
                        <a:rPr lang="ko-KR" altLang="en-US" sz="1000" dirty="0"/>
                        <a:t>스크립트는 </a:t>
                      </a:r>
                      <a:r>
                        <a:rPr lang="ko-KR" altLang="en-US" sz="1000" b="1" dirty="0"/>
                        <a:t>인터프리터 방식</a:t>
                      </a:r>
                      <a:r>
                        <a:rPr lang="ko-KR" altLang="en-US" sz="1000" dirty="0"/>
                        <a:t> → 고주파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루프 구현 매우 어려움</a:t>
                      </a:r>
                      <a:endParaRPr lang="en-US" altLang="ko-KR" sz="1000" dirty="0"/>
                    </a:p>
                    <a:p>
                      <a:pPr latinLnBrk="1"/>
                      <a:r>
                        <a:rPr lang="ko-KR" altLang="en-US" sz="1000" dirty="0"/>
                        <a:t>실시간 스케줄러</a:t>
                      </a:r>
                      <a:r>
                        <a:rPr lang="en-US" altLang="ko-KR" sz="1000" dirty="0"/>
                        <a:t>(RTOS)</a:t>
                      </a:r>
                      <a:r>
                        <a:rPr lang="ko-KR" altLang="en-US" sz="1000" dirty="0"/>
                        <a:t>가 존재하지 않는다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6036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5029F0-7163-6DD9-59E8-075D041979B1}"/>
              </a:ext>
            </a:extLst>
          </p:cNvPr>
          <p:cNvSpPr txBox="1"/>
          <p:nvPr/>
        </p:nvSpPr>
        <p:spPr>
          <a:xfrm>
            <a:off x="496570" y="349177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현재 시뮬레이터 종류 비교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B8A0-22B8-584A-E921-6332E45921C7}"/>
              </a:ext>
            </a:extLst>
          </p:cNvPr>
          <p:cNvSpPr txBox="1"/>
          <p:nvPr/>
        </p:nvSpPr>
        <p:spPr>
          <a:xfrm>
            <a:off x="359246" y="6099188"/>
            <a:ext cx="1117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로봇 시뮬레이터가 아닌 환경에서는 물리엔진</a:t>
            </a:r>
            <a:r>
              <a:rPr lang="en-US" altLang="ko-KR" sz="1200" dirty="0"/>
              <a:t>·</a:t>
            </a:r>
            <a:r>
              <a:rPr lang="ko-KR" altLang="en-US" sz="1200" dirty="0"/>
              <a:t>센서모델</a:t>
            </a:r>
            <a:r>
              <a:rPr lang="en-US" altLang="ko-KR" sz="1200" dirty="0"/>
              <a:t>·</a:t>
            </a:r>
            <a:r>
              <a:rPr lang="ko-KR" altLang="en-US" sz="1200" dirty="0"/>
              <a:t>환경 상호작용</a:t>
            </a:r>
            <a:r>
              <a:rPr lang="en-US" altLang="ko-KR" sz="1200" dirty="0"/>
              <a:t>·</a:t>
            </a:r>
            <a:r>
              <a:rPr lang="ko-KR" altLang="en-US" sz="1200" dirty="0"/>
              <a:t>실시간 루프</a:t>
            </a:r>
            <a:r>
              <a:rPr lang="en-US" altLang="ko-KR" sz="1200" dirty="0"/>
              <a:t>·</a:t>
            </a:r>
            <a:r>
              <a:rPr lang="ko-KR" altLang="en-US" sz="1200" dirty="0"/>
              <a:t>통신까지 모두 직접 구현해야 하므로 개발 난도가 급격히 높아진다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16" name="그림 15" descr="텍스트, 도표, 스크린샷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4D919B-D323-FF83-CA7D-EDE06A18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443" y="134303"/>
            <a:ext cx="5784427" cy="32537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259D321-A16C-73E5-6FA1-7245053F9BCD}"/>
              </a:ext>
            </a:extLst>
          </p:cNvPr>
          <p:cNvSpPr txBox="1"/>
          <p:nvPr/>
        </p:nvSpPr>
        <p:spPr>
          <a:xfrm>
            <a:off x="5381413" y="3366221"/>
            <a:ext cx="5777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</a:t>
            </a:r>
            <a:r>
              <a:rPr lang="en-US" altLang="ko-KR" sz="1400" b="1" dirty="0" err="1"/>
              <a:t>AirSim</a:t>
            </a:r>
            <a:r>
              <a:rPr lang="en-US" altLang="ko-KR" sz="1400" b="1" dirty="0"/>
              <a:t> Architecture]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929535-279D-43AA-E47A-239DBB977150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https://microsoft.github.io/AirSim/design/#architecture]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9425-3F13-4F11-DC7F-4D0F5EC00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C2CE64-D29B-9524-3657-681DCEB87C71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2. </a:t>
            </a:r>
            <a:r>
              <a:rPr lang="ko-KR" altLang="en-US" b="1" dirty="0">
                <a:latin typeface="+mj-lt"/>
              </a:rPr>
              <a:t>문제점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D56B3-6F66-D517-E882-4470CD9A4621}"/>
              </a:ext>
            </a:extLst>
          </p:cNvPr>
          <p:cNvSpPr txBox="1"/>
          <p:nvPr/>
        </p:nvSpPr>
        <p:spPr>
          <a:xfrm>
            <a:off x="60277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2.1 </a:t>
            </a:r>
            <a:r>
              <a:rPr lang="ko-KR" altLang="en-US" sz="1600" b="1" dirty="0"/>
              <a:t>센서 모델 불일치 문제</a:t>
            </a:r>
            <a:endParaRPr lang="en-US" altLang="ko-KR" sz="1600" b="1" dirty="0"/>
          </a:p>
          <a:p>
            <a:r>
              <a:rPr lang="ko-KR" altLang="en-US" sz="1600" dirty="0"/>
              <a:t>고주파 </a:t>
            </a:r>
            <a:r>
              <a:rPr lang="en-US" altLang="ko-KR" sz="1600" dirty="0"/>
              <a:t>IMU → </a:t>
            </a:r>
            <a:r>
              <a:rPr lang="ko-KR" altLang="en-US" sz="1600" dirty="0"/>
              <a:t>저주파 시뮬레이터에서는 진동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외란</a:t>
            </a:r>
            <a:r>
              <a:rPr lang="en-US" altLang="ko-KR" sz="1600" dirty="0"/>
              <a:t>/</a:t>
            </a:r>
            <a:r>
              <a:rPr lang="ko-KR" altLang="en-US" sz="1600" dirty="0"/>
              <a:t>가속도 패턴이 전혀 다르게 나타남</a:t>
            </a:r>
            <a:endParaRPr lang="en-US" altLang="ko-KR" sz="1600" dirty="0"/>
          </a:p>
          <a:p>
            <a:r>
              <a:rPr lang="ko-KR" altLang="en-US" sz="1600" dirty="0"/>
              <a:t> → 시뮬레이션 튜닝이 실기체에서 실패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2.2 </a:t>
            </a:r>
            <a:r>
              <a:rPr lang="ko-KR" altLang="en-US" sz="1600" b="1" dirty="0"/>
              <a:t>제어 루프 불일치 문제</a:t>
            </a:r>
            <a:endParaRPr lang="en-US" altLang="ko-KR" sz="1600" b="1" dirty="0"/>
          </a:p>
          <a:p>
            <a:r>
              <a:rPr lang="ko-KR" altLang="en-US" sz="1600" dirty="0" err="1"/>
              <a:t>실기체</a:t>
            </a:r>
            <a:r>
              <a:rPr lang="en-US" altLang="ko-KR" sz="1600" dirty="0"/>
              <a:t>(1~32 kHz) vs </a:t>
            </a:r>
            <a:r>
              <a:rPr lang="ko-KR" altLang="en-US" sz="1600" dirty="0"/>
              <a:t>시뮬레이터</a:t>
            </a:r>
            <a:r>
              <a:rPr lang="en-US" altLang="ko-KR" sz="1600" dirty="0"/>
              <a:t>(100~1 kHz)</a:t>
            </a:r>
            <a:br>
              <a:rPr lang="en-US" altLang="ko-KR" sz="1600" dirty="0"/>
            </a:br>
            <a:r>
              <a:rPr lang="ko-KR" altLang="en-US" sz="1600" dirty="0"/>
              <a:t> → 제어 응답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overshoot/undershoot </a:t>
            </a:r>
            <a:r>
              <a:rPr lang="ko-KR" altLang="en-US" sz="1600" dirty="0"/>
              <a:t>전부 달라짐</a:t>
            </a:r>
            <a:endParaRPr lang="en-US" altLang="ko-KR" sz="1600" dirty="0"/>
          </a:p>
          <a:p>
            <a:endParaRPr lang="ko-KR" altLang="en-US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(latency)·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문제</a:t>
            </a:r>
          </a:p>
          <a:p>
            <a:r>
              <a:rPr lang="en-US" altLang="ko-KR" sz="1600" dirty="0"/>
              <a:t>Gazebo / 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 / ROS / RPC / </a:t>
            </a:r>
            <a:r>
              <a:rPr lang="en-US" altLang="ko-KR" sz="1600" dirty="0" err="1"/>
              <a:t>MAVLink</a:t>
            </a:r>
            <a:r>
              <a:rPr lang="en-US" altLang="ko-KR" sz="1600" dirty="0"/>
              <a:t> </a:t>
            </a:r>
            <a:r>
              <a:rPr lang="ko-KR" altLang="en-US" sz="1600" dirty="0"/>
              <a:t>데이터 통신의</a:t>
            </a:r>
            <a:r>
              <a:rPr lang="en-US" altLang="ko-KR" sz="1600" dirty="0"/>
              <a:t> </a:t>
            </a:r>
            <a:r>
              <a:rPr lang="ko-KR" altLang="en-US" sz="1600" dirty="0"/>
              <a:t>구조적 한계</a:t>
            </a:r>
            <a:br>
              <a:rPr lang="ko-KR" altLang="en-US" sz="1600" dirty="0"/>
            </a:br>
            <a:r>
              <a:rPr lang="ko-KR" altLang="en-US" sz="1600" dirty="0"/>
              <a:t> → 실시간성 보장 불가 → 고주파 테스트 절대 불가</a:t>
            </a:r>
          </a:p>
          <a:p>
            <a:endParaRPr lang="en-US" altLang="ko-KR" sz="1600" dirty="0"/>
          </a:p>
          <a:p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27739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3415E-249B-4704-FF73-323C681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16F55F-95D4-E301-2F3A-F76E96B26ECF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3. </a:t>
            </a:r>
            <a:r>
              <a:rPr lang="ko-KR" altLang="en-US" b="1" dirty="0">
                <a:latin typeface="+mj-lt"/>
              </a:rPr>
              <a:t>연구 목표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312E6D-1C52-4C8A-7CD6-943C0DF809F6}"/>
              </a:ext>
            </a:extLst>
          </p:cNvPr>
          <p:cNvSpPr txBox="1"/>
          <p:nvPr/>
        </p:nvSpPr>
        <p:spPr>
          <a:xfrm>
            <a:off x="58372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3.1 </a:t>
            </a:r>
            <a:r>
              <a:rPr lang="ko-KR" altLang="en-US" sz="1600" b="1" dirty="0"/>
              <a:t>고주파 </a:t>
            </a:r>
            <a:r>
              <a:rPr lang="en-US" altLang="ko-KR" sz="1600" b="1" dirty="0"/>
              <a:t>IMU </a:t>
            </a:r>
            <a:r>
              <a:rPr lang="ko-KR" altLang="en-US" sz="1600" b="1" dirty="0"/>
              <a:t>센서 루프 재현</a:t>
            </a:r>
            <a:endParaRPr lang="en-US" altLang="ko-KR" sz="1600" b="1" dirty="0"/>
          </a:p>
          <a:p>
            <a:r>
              <a:rPr lang="en-US" altLang="ko-KR" sz="1600" dirty="0"/>
              <a:t> 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IMU </a:t>
            </a:r>
            <a:r>
              <a:rPr lang="ko-KR" altLang="en-US" sz="1600" dirty="0"/>
              <a:t>수준의 고주파</a:t>
            </a:r>
            <a:r>
              <a:rPr lang="en-US" altLang="ko-KR" sz="1600" dirty="0"/>
              <a:t>(8~32 kHz)</a:t>
            </a:r>
            <a:r>
              <a:rPr lang="ko-KR" altLang="en-US" sz="1600" dirty="0"/>
              <a:t> 출력 데이터 생성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3.2 </a:t>
            </a:r>
            <a:r>
              <a:rPr lang="ko-KR" altLang="en-US" sz="1600" b="1" dirty="0"/>
              <a:t>고주파 제어 루프</a:t>
            </a:r>
            <a:r>
              <a:rPr lang="en-US" altLang="ko-KR" sz="1600" b="1" dirty="0"/>
              <a:t>(Attitude Loop) </a:t>
            </a:r>
            <a:r>
              <a:rPr lang="ko-KR" altLang="en-US" sz="1600" b="1" dirty="0"/>
              <a:t>실시간 처리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FC </a:t>
            </a:r>
            <a:r>
              <a:rPr lang="ko-KR" altLang="en-US" sz="1600" dirty="0"/>
              <a:t>수준의 </a:t>
            </a:r>
            <a:r>
              <a:rPr lang="en-US" altLang="ko-KR" sz="1600" dirty="0"/>
              <a:t>1~8 kHz </a:t>
            </a:r>
            <a:r>
              <a:rPr lang="ko-KR" altLang="en-US" sz="1600" dirty="0"/>
              <a:t>제어 루프 구현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3.3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(latency), 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없는 실시간 구조 설계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네트워크</a:t>
            </a:r>
            <a:r>
              <a:rPr lang="en-US" altLang="ko-KR" sz="1600" dirty="0"/>
              <a:t>·RPC </a:t>
            </a:r>
            <a:r>
              <a:rPr lang="ko-KR" altLang="en-US" sz="1600" dirty="0"/>
              <a:t>기반 통신을 사용하지 않는 고정 주기 실행 엔진 구축</a:t>
            </a:r>
            <a:endParaRPr lang="en-US" altLang="ko-KR" sz="1600" dirty="0"/>
          </a:p>
          <a:p>
            <a:pPr marL="285750" indent="-285750">
              <a:buFontTx/>
              <a:buChar char="-"/>
            </a:pPr>
            <a:endParaRPr lang="en-US" altLang="ko-KR" sz="1600" dirty="0"/>
          </a:p>
          <a:p>
            <a:r>
              <a:rPr lang="en-US" altLang="ko-KR" sz="1600" b="1" dirty="0"/>
              <a:t>3.4 </a:t>
            </a:r>
            <a:r>
              <a:rPr lang="ko-KR" altLang="en-US" sz="1600" b="1" dirty="0"/>
              <a:t>제안된 시뮬레이터의 실시간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고주파 성능 검증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센서</a:t>
            </a:r>
            <a:r>
              <a:rPr lang="en-US" altLang="ko-KR" sz="1600" dirty="0"/>
              <a:t>/</a:t>
            </a:r>
            <a:r>
              <a:rPr lang="ko-KR" altLang="en-US" sz="1600" dirty="0"/>
              <a:t>제어 루프의 </a:t>
            </a:r>
            <a:r>
              <a:rPr lang="ko-KR" altLang="en-US" sz="1600" b="1" dirty="0"/>
              <a:t>시간 정확도</a:t>
            </a:r>
            <a:r>
              <a:rPr lang="en-US" altLang="ko-KR" sz="1600" b="1" dirty="0"/>
              <a:t>(Time Determinism) </a:t>
            </a:r>
            <a:r>
              <a:rPr lang="ko-KR" altLang="en-US" sz="1600" b="1" dirty="0"/>
              <a:t>측정</a:t>
            </a:r>
            <a:endParaRPr lang="en-US" altLang="ko-KR" sz="1600" b="1" dirty="0"/>
          </a:p>
          <a:p>
            <a:r>
              <a:rPr lang="en-US" altLang="ko-KR" sz="1600" b="1" dirty="0"/>
              <a:t>-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·</a:t>
            </a:r>
            <a:r>
              <a:rPr lang="ko-KR" altLang="en-US" sz="1600" b="1" dirty="0" err="1"/>
              <a:t>지터</a:t>
            </a:r>
            <a:r>
              <a:rPr lang="ko-KR" altLang="en-US" sz="1600" b="1" dirty="0"/>
              <a:t> 분석</a:t>
            </a:r>
            <a:r>
              <a:rPr lang="ko-KR" altLang="en-US" sz="1600" dirty="0"/>
              <a:t>을 통한 기존 시뮬레이터 대비 성능 비교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3.5 </a:t>
            </a:r>
            <a:r>
              <a:rPr lang="ko-KR" altLang="en-US" sz="1600" b="1" dirty="0"/>
              <a:t>비행 시나리오 기반 비행 안정성</a:t>
            </a:r>
            <a:r>
              <a:rPr lang="en-US" altLang="ko-KR" sz="1600" b="1" dirty="0"/>
              <a:t>(Flight Dynamics) </a:t>
            </a:r>
            <a:r>
              <a:rPr lang="ko-KR" altLang="en-US" sz="1600" b="1" dirty="0"/>
              <a:t>검증</a:t>
            </a:r>
            <a:br>
              <a:rPr lang="ko-KR" altLang="en-US" sz="1600" dirty="0"/>
            </a:br>
            <a:r>
              <a:rPr lang="en-US" altLang="ko-KR" sz="1600" dirty="0"/>
              <a:t>– </a:t>
            </a:r>
            <a:r>
              <a:rPr lang="ko-KR" altLang="en-US" sz="1600" dirty="0"/>
              <a:t>호버링</a:t>
            </a:r>
            <a:r>
              <a:rPr lang="en-US" altLang="ko-KR" sz="1600" dirty="0"/>
              <a:t>, </a:t>
            </a:r>
            <a:r>
              <a:rPr lang="ko-KR" altLang="en-US" sz="1600" dirty="0"/>
              <a:t>스텝 응답</a:t>
            </a:r>
            <a:r>
              <a:rPr lang="en-US" altLang="ko-KR" sz="1600" dirty="0"/>
              <a:t>, yaw </a:t>
            </a:r>
            <a:r>
              <a:rPr lang="ko-KR" altLang="en-US" sz="1600" dirty="0" err="1"/>
              <a:t>스윕</a:t>
            </a:r>
            <a:r>
              <a:rPr lang="ko-KR" altLang="en-US" sz="1600" dirty="0"/>
              <a:t> 등 단순 시나리오를 통한 제안 구조의 비행 가능성 검증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0924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TM03457515[[fn=보기]]</Template>
  <TotalTime>646</TotalTime>
  <Words>706</Words>
  <Application>Microsoft Office PowerPoint</Application>
  <PresentationFormat>와이드스크린</PresentationFormat>
  <Paragraphs>117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인투 스카이2</cp:lastModifiedBy>
  <cp:revision>14</cp:revision>
  <dcterms:created xsi:type="dcterms:W3CDTF">2025-12-09T13:25:44Z</dcterms:created>
  <dcterms:modified xsi:type="dcterms:W3CDTF">2025-12-10T13:09:59Z</dcterms:modified>
</cp:coreProperties>
</file>