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4" autoAdjust="0"/>
    <p:restoredTop sz="94660"/>
  </p:normalViewPr>
  <p:slideViewPr>
    <p:cSldViewPr snapToGrid="0">
      <p:cViewPr varScale="1">
        <p:scale>
          <a:sx n="155" d="100"/>
          <a:sy n="155" d="100"/>
        </p:scale>
        <p:origin x="288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B9BF83-B5BE-4DD4-A332-58395F2573B7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98AE32-E7AE-48A5-9392-CCB4D2CF53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5244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25595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9366CF-792B-CFA1-8A44-A0678772A0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1EBCDD3-28F8-9BB8-82F1-0DA29E9ECA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07912E-825E-CD46-0535-D38DB4102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2586AF-1475-3DCE-9626-22E8F00F2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6B57174-135C-258E-AA3C-F80C60902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06134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3A7FB0-5D14-ACB3-EEA8-C67126F364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620475-98C5-7F83-2FF2-3086279D7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BBB093-1A7F-0C07-CF34-29064A5F3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4958B8-832F-44C9-C40F-C12AB603F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F50DAF-1936-0851-2751-D03CEA61B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67224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EB811-BC87-D84D-1687-A1760C8FC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E0DC127-22B6-A547-33C4-EDE473CD9D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BBE0D6-08EF-7D80-5EEE-8A1BE60D6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F8C1C0-A3E1-037A-A1D4-F185B8D80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6984AC1-7754-CE43-EA3A-C035ACF97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0519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171942-E778-5924-EFE5-5EB75D6CB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997D1-82D9-6052-01AD-9185A554F2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4A750E-A954-38D0-78EA-75E92D7CC1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11F09C6-7004-61C5-1F23-C2D3EDB7B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5E310EB-6B98-5663-145D-3C27E6FBC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A88C3A7-7589-29E7-EAF7-88B569A0B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856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0D82E7-E734-6B26-3EB6-6163087BC2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EA5CF0-C24B-B6E7-CB06-030B6CD2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AE3493E-9370-6D8A-649D-009DE01C0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846C2B7-FFEE-2039-E45D-55D914F802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617EC2E-0FBF-38C2-3629-D2BDEEB8FA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0E27F5B-B84E-FD57-D999-5361E8E8E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93CF540-5D34-8426-9C9C-3F3C5E5B8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F38BA16-71B6-724E-6F9A-EC537191D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2827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4A561D-B944-1079-4403-969D273CA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AF619D7-C08C-9770-DCF8-9F353EAAF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FE5C992-64AA-D3A9-431A-E384158D6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2BD9E39-60FF-E5D0-9E34-5181E3359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9879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D99E7A2-68FB-403F-570D-F47BF4580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3F9E2FB-CABB-3280-4FA6-C537D53B0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1AC3FF-DA1C-BFC9-38C0-1D51F39EC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8614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2DF312-6393-381E-FE68-7DA1935B0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BA897A-A2AA-5E8F-5BE4-55DFEA0AB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6212841-F7F3-DA50-1907-4106D1C923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A56C78-3404-5539-2911-F16CA70B3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E943AED-FFC6-AFBD-DB08-6D035AEBA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19FA07E-6A43-33D5-6025-182A2734A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2228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497D97-FD7D-3CFB-4FE8-02CE771A3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AE9C586-7EF3-AF58-F4D0-EC3906DBB1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1450DE-2472-911A-C923-C718AC570E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F3174A1-F88B-5258-15B2-CC5795C0F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534A8C4-0C56-7E46-311C-1E4689F28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8822821-D6A2-A89D-3490-587860FDB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5040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9C151A-C619-AB0B-9AD0-B61BF49B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BE842E3-CCE5-E857-FCBE-8D167B345B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FDC7F2-EE76-436F-8A41-4AEC5EF3A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DD7EC6-5BE4-20C0-35D0-8F539AF50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236281B-9A28-04AF-12F8-BF73796CD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6527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821F8E4-C593-5E61-91FB-86B8F7BC0E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F087093-BDF6-5DEF-4897-8190AD5E93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FC7A13-B3A1-6F80-4860-478BEF377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FEB96E-2BAB-B7EC-D275-AF82085F9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B237B5A-1E0A-8142-1258-827B8EFF3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4032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2AF9CB8-501F-ED5D-BD12-ABA47736D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E30701F-5180-D290-C12C-0D4EE57C60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8EFF73-A29D-ABD8-76C3-629189A6C5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209A1A-9265-4240-B6C3-FDC5AC5FF3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FC67AE-F4C2-BB93-30B6-B022496B8E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48D67E-C77C-AAF2-C4E9-F8521BDCD9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6462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B9DA5EB-3ED9-456E-6E90-EEBB5C6DD869}"/>
              </a:ext>
            </a:extLst>
          </p:cNvPr>
          <p:cNvSpPr txBox="1"/>
          <p:nvPr/>
        </p:nvSpPr>
        <p:spPr>
          <a:xfrm>
            <a:off x="422746" y="389942"/>
            <a:ext cx="6966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+mj-lt"/>
              </a:rPr>
              <a:t>1. </a:t>
            </a:r>
            <a:r>
              <a:rPr lang="ko-KR" altLang="en-US" b="1" dirty="0">
                <a:latin typeface="+mj-lt"/>
              </a:rPr>
              <a:t>기술의 배경 </a:t>
            </a:r>
            <a:r>
              <a:rPr lang="en-US" altLang="ko-KR" b="1" dirty="0">
                <a:latin typeface="+mj-lt"/>
              </a:rPr>
              <a:t>- </a:t>
            </a:r>
            <a:r>
              <a:rPr lang="ko-KR" altLang="en-US" b="1" dirty="0" err="1"/>
              <a:t>쿼드콥터</a:t>
            </a:r>
            <a:r>
              <a:rPr lang="ko-KR" altLang="en-US" b="1" dirty="0"/>
              <a:t> 자세 제어 루프의 실시간성 요구사항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B5E131B-1776-913C-0A67-87189E73B30B}"/>
              </a:ext>
            </a:extLst>
          </p:cNvPr>
          <p:cNvSpPr/>
          <p:nvPr/>
        </p:nvSpPr>
        <p:spPr>
          <a:xfrm>
            <a:off x="493616" y="1116700"/>
            <a:ext cx="1861169" cy="8092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IMU</a:t>
            </a:r>
            <a:r>
              <a:rPr lang="ko-KR" altLang="en-US" sz="1600" dirty="0"/>
              <a:t> 센서</a:t>
            </a:r>
            <a:br>
              <a:rPr lang="en-US" altLang="ko-KR" sz="1600" dirty="0"/>
            </a:br>
            <a:r>
              <a:rPr lang="en-US" altLang="ko-KR" sz="1600" dirty="0"/>
              <a:t>(Gyro + Accel)</a:t>
            </a:r>
            <a:endParaRPr lang="ko-KR" altLang="en-US" sz="16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6AA8025-4D3E-4A7A-0C34-7A77BED49221}"/>
              </a:ext>
            </a:extLst>
          </p:cNvPr>
          <p:cNvSpPr/>
          <p:nvPr/>
        </p:nvSpPr>
        <p:spPr>
          <a:xfrm>
            <a:off x="3551057" y="1116699"/>
            <a:ext cx="1861169" cy="8092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PID </a:t>
            </a:r>
            <a:r>
              <a:rPr lang="ko-KR" altLang="en-US" sz="1600" dirty="0"/>
              <a:t>제어기</a:t>
            </a:r>
            <a:br>
              <a:rPr lang="en-US" altLang="ko-KR" sz="1600" dirty="0"/>
            </a:br>
            <a:r>
              <a:rPr lang="en-US" altLang="ko-KR" sz="1600" dirty="0"/>
              <a:t>(Attitude Control)</a:t>
            </a:r>
            <a:endParaRPr lang="ko-KR" altLang="en-US" sz="1600" dirty="0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1E370A8D-FB01-50B0-2039-049C6C920A58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2354785" y="1521301"/>
            <a:ext cx="1196272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AF089AA-E495-050F-CA25-6C2D51B7AC41}"/>
              </a:ext>
            </a:extLst>
          </p:cNvPr>
          <p:cNvSpPr/>
          <p:nvPr/>
        </p:nvSpPr>
        <p:spPr>
          <a:xfrm>
            <a:off x="6721786" y="1116698"/>
            <a:ext cx="1861170" cy="8092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PWM</a:t>
            </a:r>
            <a:r>
              <a:rPr lang="ko-KR" altLang="en-US" sz="1600" dirty="0"/>
              <a:t> 출력</a:t>
            </a: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E43086C9-0EE9-E080-A102-C47D0E472B1E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5412226" y="1521300"/>
            <a:ext cx="1309560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669AB27-89A1-02F7-6C7F-77A0BB870409}"/>
              </a:ext>
            </a:extLst>
          </p:cNvPr>
          <p:cNvSpPr txBox="1"/>
          <p:nvPr/>
        </p:nvSpPr>
        <p:spPr>
          <a:xfrm>
            <a:off x="2469085" y="1209029"/>
            <a:ext cx="9629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/>
              <a:t>1 kHz</a:t>
            </a:r>
            <a:endParaRPr lang="en-US" altLang="ko-KR" sz="12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E38FB1C-A1BC-8BE6-35EC-8BB06E5948A4}"/>
              </a:ext>
            </a:extLst>
          </p:cNvPr>
          <p:cNvSpPr txBox="1"/>
          <p:nvPr/>
        </p:nvSpPr>
        <p:spPr>
          <a:xfrm>
            <a:off x="5582156" y="1209029"/>
            <a:ext cx="9629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/>
              <a:t>1 kHz</a:t>
            </a:r>
            <a:endParaRPr lang="ko-KR" altLang="en-US" sz="1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1B1AE4-3D92-5875-9136-9DC9DE2C458D}"/>
              </a:ext>
            </a:extLst>
          </p:cNvPr>
          <p:cNvSpPr txBox="1"/>
          <p:nvPr/>
        </p:nvSpPr>
        <p:spPr>
          <a:xfrm>
            <a:off x="493615" y="1925901"/>
            <a:ext cx="1861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기체 기울기</a:t>
            </a:r>
            <a:r>
              <a:rPr lang="en-US" altLang="ko-KR" sz="1200" dirty="0"/>
              <a:t>, </a:t>
            </a:r>
            <a:r>
              <a:rPr lang="ko-KR" altLang="en-US" sz="1200" dirty="0"/>
              <a:t>회전 측정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32EA0B3-E1CC-1A2F-181D-F251D600780B}"/>
              </a:ext>
            </a:extLst>
          </p:cNvPr>
          <p:cNvSpPr txBox="1"/>
          <p:nvPr/>
        </p:nvSpPr>
        <p:spPr>
          <a:xfrm>
            <a:off x="3551057" y="1925902"/>
            <a:ext cx="1861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자세 안정화 계산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6517833-080C-6B6A-2824-60FC6ABCFA74}"/>
              </a:ext>
            </a:extLst>
          </p:cNvPr>
          <p:cNvSpPr/>
          <p:nvPr/>
        </p:nvSpPr>
        <p:spPr>
          <a:xfrm>
            <a:off x="9892515" y="1115218"/>
            <a:ext cx="1861170" cy="8092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모터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0589D95A-0F2F-37C3-6D8A-86D7E4FA991C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8596442" y="1519820"/>
            <a:ext cx="129607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BF8559E-8EDC-E43B-B45C-0A38054BE328}"/>
              </a:ext>
            </a:extLst>
          </p:cNvPr>
          <p:cNvSpPr txBox="1"/>
          <p:nvPr/>
        </p:nvSpPr>
        <p:spPr>
          <a:xfrm>
            <a:off x="8609929" y="1209030"/>
            <a:ext cx="1255614" cy="276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/>
              <a:t>400~1000Hz</a:t>
            </a:r>
            <a:endParaRPr lang="ko-KR" altLang="en-US" sz="1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582EBD6-C531-C884-C08D-2DF921330D86}"/>
              </a:ext>
            </a:extLst>
          </p:cNvPr>
          <p:cNvSpPr txBox="1"/>
          <p:nvPr/>
        </p:nvSpPr>
        <p:spPr>
          <a:xfrm>
            <a:off x="6721786" y="1925902"/>
            <a:ext cx="1861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모터 속도 제어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282BEA-8F2D-0184-5663-69A077058831}"/>
              </a:ext>
            </a:extLst>
          </p:cNvPr>
          <p:cNvSpPr txBox="1"/>
          <p:nvPr/>
        </p:nvSpPr>
        <p:spPr>
          <a:xfrm>
            <a:off x="9892515" y="1924421"/>
            <a:ext cx="1861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ko-KR" altLang="en-US" sz="12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F562CF2-3478-0AC5-1B86-BC788E40989F}"/>
              </a:ext>
            </a:extLst>
          </p:cNvPr>
          <p:cNvSpPr txBox="1"/>
          <p:nvPr/>
        </p:nvSpPr>
        <p:spPr>
          <a:xfrm>
            <a:off x="398159" y="2395539"/>
            <a:ext cx="113309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실제 </a:t>
            </a:r>
            <a:r>
              <a:rPr lang="en-US" altLang="ko-KR" sz="1600" dirty="0"/>
              <a:t>IMU</a:t>
            </a:r>
            <a:r>
              <a:rPr lang="ko-KR" altLang="en-US" sz="1600" dirty="0"/>
              <a:t>가 </a:t>
            </a:r>
            <a:r>
              <a:rPr lang="en-US" altLang="ko-KR" sz="1600" dirty="0"/>
              <a:t>1~32 kHz</a:t>
            </a:r>
            <a:r>
              <a:rPr lang="ko-KR" altLang="en-US" sz="1600" dirty="0"/>
              <a:t>의 고주파로 동작하기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시뮬레이터에서도 최소 </a:t>
            </a:r>
            <a:r>
              <a:rPr lang="en-US" altLang="ko-KR" sz="1600" dirty="0"/>
              <a:t>1 kHz </a:t>
            </a:r>
            <a:r>
              <a:rPr lang="ko-KR" altLang="en-US" sz="1600" dirty="0"/>
              <a:t>이상의 센서</a:t>
            </a:r>
            <a:r>
              <a:rPr lang="en-US" altLang="ko-KR" sz="1600" dirty="0"/>
              <a:t>·</a:t>
            </a:r>
            <a:r>
              <a:rPr lang="ko-KR" altLang="en-US" sz="1600" dirty="0"/>
              <a:t>제어 루프를 지원해야 실기체와 동일한 비행을 재현할 수 있습니다</a:t>
            </a:r>
            <a:r>
              <a:rPr lang="en-US" altLang="ko-KR" sz="1600" dirty="0"/>
              <a:t>.</a:t>
            </a:r>
            <a:endParaRPr lang="en-US" altLang="ko-KR" sz="1600" dirty="0">
              <a:effectLst/>
            </a:endParaRPr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D8063F0A-E507-B75A-DF9F-0E94E1D6CC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4277964"/>
              </p:ext>
            </p:extLst>
          </p:nvPr>
        </p:nvGraphicFramePr>
        <p:xfrm>
          <a:off x="462901" y="3629653"/>
          <a:ext cx="4146003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908">
                  <a:extLst>
                    <a:ext uri="{9D8B030D-6E8A-4147-A177-3AD203B41FA5}">
                      <a16:colId xmlns:a16="http://schemas.microsoft.com/office/drawing/2014/main" val="3861258388"/>
                    </a:ext>
                  </a:extLst>
                </a:gridCol>
                <a:gridCol w="2698095">
                  <a:extLst>
                    <a:ext uri="{9D8B030D-6E8A-4147-A177-3AD203B41FA5}">
                      <a16:colId xmlns:a16="http://schemas.microsoft.com/office/drawing/2014/main" val="3191735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IMU</a:t>
                      </a:r>
                      <a:r>
                        <a:rPr lang="ko-KR" altLang="en-US" dirty="0"/>
                        <a:t>센서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최대 샘플링 속도</a:t>
                      </a:r>
                      <a:r>
                        <a:rPr lang="en-US" altLang="ko-KR" dirty="0"/>
                        <a:t>(ODR)</a:t>
                      </a:r>
                    </a:p>
                    <a:p>
                      <a:pPr latinLnBrk="1"/>
                      <a:r>
                        <a:rPr lang="en-US" altLang="ko-KR" dirty="0"/>
                        <a:t>(Output Data Rate)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65292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MPU–6000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8 kHz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232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ICM-20689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8 kHz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68922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ICM-20602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32 kHz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8698105"/>
                  </a:ext>
                </a:extLst>
              </a:tr>
            </a:tbl>
          </a:graphicData>
        </a:graphic>
      </p:graphicFrame>
      <p:sp>
        <p:nvSpPr>
          <p:cNvPr id="42" name="TextBox 41">
            <a:extLst>
              <a:ext uri="{FF2B5EF4-FFF2-40B4-BE49-F238E27FC236}">
                <a16:creationId xmlns:a16="http://schemas.microsoft.com/office/drawing/2014/main" id="{77C9845F-9314-AB77-4D8A-AB6F0A4E3FDA}"/>
              </a:ext>
            </a:extLst>
          </p:cNvPr>
          <p:cNvSpPr txBox="1"/>
          <p:nvPr/>
        </p:nvSpPr>
        <p:spPr>
          <a:xfrm>
            <a:off x="398161" y="3291099"/>
            <a:ext cx="42107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실제 사용 </a:t>
            </a:r>
            <a:r>
              <a:rPr lang="en-US" altLang="ko-KR" sz="1600" dirty="0"/>
              <a:t>IMU </a:t>
            </a:r>
            <a:r>
              <a:rPr lang="ko-KR" altLang="en-US" sz="1600" dirty="0"/>
              <a:t>최대 </a:t>
            </a:r>
            <a:r>
              <a:rPr lang="en-US" altLang="ko-KR" sz="1600" dirty="0"/>
              <a:t>ODR </a:t>
            </a:r>
            <a:r>
              <a:rPr lang="ko-KR" altLang="en-US" sz="1600" dirty="0"/>
              <a:t>비교</a:t>
            </a:r>
            <a:endParaRPr lang="ko-KR" altLang="en-US" sz="1600" dirty="0">
              <a:effectLst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14C01FF-CB3D-2773-AC17-ADC91AD7B90B}"/>
              </a:ext>
            </a:extLst>
          </p:cNvPr>
          <p:cNvSpPr txBox="1"/>
          <p:nvPr/>
        </p:nvSpPr>
        <p:spPr>
          <a:xfrm>
            <a:off x="430530" y="5543719"/>
            <a:ext cx="113309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* </a:t>
            </a:r>
            <a:r>
              <a:rPr lang="ko-KR" altLang="en-US" sz="1200" dirty="0"/>
              <a:t>시뮬레이터에서 실기체와 동일한 동적 특성을 재현하려면 최소 </a:t>
            </a:r>
            <a:r>
              <a:rPr lang="en-US" altLang="ko-KR" sz="1200" dirty="0"/>
              <a:t>1 kHz </a:t>
            </a:r>
            <a:r>
              <a:rPr lang="ko-KR" altLang="en-US" sz="1200" dirty="0"/>
              <a:t>이상의 </a:t>
            </a:r>
            <a:r>
              <a:rPr lang="en-US" altLang="ko-KR" sz="1200" dirty="0"/>
              <a:t>IMU ODR </a:t>
            </a:r>
            <a:r>
              <a:rPr lang="ko-KR" altLang="en-US" sz="1200" dirty="0"/>
              <a:t>및 제어 루프 주기를 지원해야 하며</a:t>
            </a:r>
            <a:r>
              <a:rPr lang="en-US" altLang="ko-KR" sz="1200" dirty="0"/>
              <a:t>, </a:t>
            </a:r>
            <a:r>
              <a:rPr lang="ko-KR" altLang="en-US" sz="1200" dirty="0"/>
              <a:t>고성능 재현을 위해서는 </a:t>
            </a:r>
            <a:r>
              <a:rPr lang="en-US" altLang="ko-KR" sz="1200" dirty="0"/>
              <a:t>8 kHz </a:t>
            </a:r>
            <a:r>
              <a:rPr lang="ko-KR" altLang="en-US" sz="1200" dirty="0"/>
              <a:t>이상이 바람직하다</a:t>
            </a:r>
            <a:r>
              <a:rPr lang="en-US" altLang="ko-KR" sz="1200" dirty="0"/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7A8B1A-2753-7920-C857-61C0371288A2}"/>
              </a:ext>
            </a:extLst>
          </p:cNvPr>
          <p:cNvSpPr txBox="1"/>
          <p:nvPr/>
        </p:nvSpPr>
        <p:spPr>
          <a:xfrm>
            <a:off x="0" y="6457890"/>
            <a:ext cx="60953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dirty="0"/>
              <a:t>[1] </a:t>
            </a:r>
            <a:r>
              <a:rPr lang="en-US" altLang="ko-KR" sz="1000" dirty="0" err="1"/>
              <a:t>Betaflight</a:t>
            </a:r>
            <a:r>
              <a:rPr lang="en-US" altLang="ko-KR" sz="1000" dirty="0"/>
              <a:t> default gyro sync 1 kHz (8 k/32 k </a:t>
            </a:r>
            <a:r>
              <a:rPr lang="ko-KR" altLang="en-US" sz="1000" dirty="0"/>
              <a:t>옵션 지원</a:t>
            </a:r>
            <a:r>
              <a:rPr lang="en-US" altLang="ko-KR" sz="1000" dirty="0"/>
              <a:t>) </a:t>
            </a:r>
          </a:p>
          <a:p>
            <a:r>
              <a:rPr lang="en-US" altLang="ko-KR" sz="1000" dirty="0"/>
              <a:t>[2] </a:t>
            </a:r>
            <a:r>
              <a:rPr lang="en-US" altLang="ko-KR" sz="1000" dirty="0" err="1"/>
              <a:t>ArduPilot</a:t>
            </a:r>
            <a:r>
              <a:rPr lang="en-US" altLang="ko-KR" sz="1000" dirty="0"/>
              <a:t> 4.x Quadcopter </a:t>
            </a:r>
            <a:r>
              <a:rPr lang="ko-KR" altLang="en-US" sz="1000" dirty="0"/>
              <a:t>기본 </a:t>
            </a:r>
            <a:r>
              <a:rPr lang="en-US" altLang="ko-KR" sz="1000" dirty="0"/>
              <a:t>1 kHz loop, PX4 1~8 kHz </a:t>
            </a:r>
            <a:r>
              <a:rPr lang="ko-KR" altLang="en-US" sz="1000" dirty="0"/>
              <a:t>지원</a:t>
            </a:r>
            <a:endParaRPr lang="ko-KR" altLang="en-US" sz="1000" dirty="0">
              <a:effectLst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847334D-8D6C-0BBA-0A70-ADEB9A79A7CF}"/>
              </a:ext>
            </a:extLst>
          </p:cNvPr>
          <p:cNvSpPr txBox="1"/>
          <p:nvPr/>
        </p:nvSpPr>
        <p:spPr>
          <a:xfrm>
            <a:off x="5582155" y="3259723"/>
            <a:ext cx="45910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FC(Flight Controller)</a:t>
            </a:r>
            <a:r>
              <a:rPr lang="ko-KR" altLang="en-US" sz="1600" dirty="0"/>
              <a:t>별 </a:t>
            </a:r>
            <a:r>
              <a:rPr lang="en-US" altLang="ko-KR" sz="1600" dirty="0"/>
              <a:t>IMU </a:t>
            </a:r>
            <a:r>
              <a:rPr lang="ko-KR" altLang="en-US" sz="1600" dirty="0"/>
              <a:t>샘플링 속도</a:t>
            </a:r>
            <a:endParaRPr lang="ko-KR" altLang="en-US" sz="1600" dirty="0">
              <a:effectLst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957626F-0D6B-DD64-055A-B5ABE26F66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8271757"/>
              </p:ext>
            </p:extLst>
          </p:nvPr>
        </p:nvGraphicFramePr>
        <p:xfrm>
          <a:off x="5582155" y="3640138"/>
          <a:ext cx="584784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3923">
                  <a:extLst>
                    <a:ext uri="{9D8B030D-6E8A-4147-A177-3AD203B41FA5}">
                      <a16:colId xmlns:a16="http://schemas.microsoft.com/office/drawing/2014/main" val="2050726570"/>
                    </a:ext>
                  </a:extLst>
                </a:gridCol>
                <a:gridCol w="2923923">
                  <a:extLst>
                    <a:ext uri="{9D8B030D-6E8A-4147-A177-3AD203B41FA5}">
                      <a16:colId xmlns:a16="http://schemas.microsoft.com/office/drawing/2014/main" val="30192969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FC</a:t>
                      </a:r>
                      <a:r>
                        <a:rPr lang="ko-KR" altLang="en-US" dirty="0"/>
                        <a:t> </a:t>
                      </a:r>
                      <a:r>
                        <a:rPr lang="en-US" altLang="ko-KR" dirty="0"/>
                        <a:t>Application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09035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Ardupilot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9727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PX4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97374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Betaflight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52720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00678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7194F6-2AD5-26CF-7D17-FC6F48A9A5F6}"/>
              </a:ext>
            </a:extLst>
          </p:cNvPr>
          <p:cNvSpPr txBox="1"/>
          <p:nvPr/>
        </p:nvSpPr>
        <p:spPr>
          <a:xfrm>
            <a:off x="422746" y="389942"/>
            <a:ext cx="6966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+mj-lt"/>
              </a:rPr>
              <a:t>1. </a:t>
            </a:r>
            <a:r>
              <a:rPr lang="ko-KR" altLang="en-US" b="1" dirty="0">
                <a:latin typeface="+mj-lt"/>
              </a:rPr>
              <a:t>기술의 배경 </a:t>
            </a:r>
            <a:r>
              <a:rPr lang="en-US" altLang="ko-KR" b="1" dirty="0">
                <a:latin typeface="+mj-lt"/>
              </a:rPr>
              <a:t>– </a:t>
            </a:r>
            <a:r>
              <a:rPr lang="ko-KR" altLang="en-US" b="1" dirty="0">
                <a:latin typeface="+mj-lt"/>
              </a:rPr>
              <a:t>기존 </a:t>
            </a:r>
            <a:r>
              <a:rPr lang="ko-KR" altLang="en-US" b="1" dirty="0" err="1">
                <a:latin typeface="+mj-lt"/>
              </a:rPr>
              <a:t>드론</a:t>
            </a:r>
            <a:r>
              <a:rPr lang="ko-KR" altLang="en-US" b="1" dirty="0">
                <a:latin typeface="+mj-lt"/>
              </a:rPr>
              <a:t> 개발 환경의 한계</a:t>
            </a:r>
          </a:p>
        </p:txBody>
      </p:sp>
    </p:spTree>
    <p:extLst>
      <p:ext uri="{BB962C8B-B14F-4D97-AF65-F5344CB8AC3E}">
        <p14:creationId xmlns:p14="http://schemas.microsoft.com/office/powerpoint/2010/main" val="15724604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190</Words>
  <Application>Microsoft Office PowerPoint</Application>
  <PresentationFormat>와이드스크린</PresentationFormat>
  <Paragraphs>32</Paragraphs>
  <Slides>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odes n</dc:creator>
  <cp:lastModifiedBy>odes n</cp:lastModifiedBy>
  <cp:revision>5</cp:revision>
  <dcterms:created xsi:type="dcterms:W3CDTF">2025-12-09T13:25:44Z</dcterms:created>
  <dcterms:modified xsi:type="dcterms:W3CDTF">2025-12-09T14:51:06Z</dcterms:modified>
</cp:coreProperties>
</file>