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2" r:id="rId4"/>
    <p:sldId id="263" r:id="rId5"/>
    <p:sldId id="256" r:id="rId6"/>
    <p:sldId id="257" r:id="rId7"/>
    <p:sldId id="258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4" autoAdjust="0"/>
    <p:restoredTop sz="87004" autoAdjust="0"/>
  </p:normalViewPr>
  <p:slideViewPr>
    <p:cSldViewPr snapToGrid="0">
      <p:cViewPr varScale="1">
        <p:scale>
          <a:sx n="138" d="100"/>
          <a:sy n="138" d="100"/>
        </p:scale>
        <p:origin x="2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9BF83-B5BE-4DD4-A332-58395F2573B7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8AE32-E7AE-48A5-9392-CCB4D2CF5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52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BD7E-A3BC-6889-5459-01802952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1F2BC-C11E-788E-D978-44D0BE548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08AA1E-F4D2-60C7-95BB-B249DC715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DA875-124B-0410-25F1-333EC2583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1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37FE-E336-289B-E67B-42FACD4D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4B3AF4-9EE8-4550-5EF4-F2DEBFC08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A857F6-7572-4F04-F1A8-6A52BBA69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EFDE07-6546-9F56-1DDE-AC10DA20F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6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슬라이드는 </a:t>
                </a:r>
                <a:r>
                  <a:rPr lang="ko-KR" altLang="en-US" dirty="0" err="1"/>
                  <a:t>멀티콥터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드론의</a:t>
                </a:r>
                <a:r>
                  <a:rPr lang="ko-KR" altLang="en-US" dirty="0"/>
                  <a:t> 기본적인 </a:t>
                </a:r>
                <a:r>
                  <a:rPr lang="ko-KR" altLang="en-US" b="1" dirty="0"/>
                  <a:t>자세 제어 구조</a:t>
                </a:r>
                <a:r>
                  <a:rPr lang="ko-KR" altLang="en-US" dirty="0"/>
                  <a:t>를 설명한다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상단 그림은 </a:t>
                </a:r>
                <a:r>
                  <a:rPr lang="ko-KR" altLang="en-US" dirty="0" err="1"/>
                  <a:t>드론의</a:t>
                </a:r>
                <a:r>
                  <a:rPr lang="ko-KR" altLang="en-US" dirty="0"/>
                  <a:t> 자세를 구성하는 </a:t>
                </a:r>
                <a:r>
                  <a:rPr lang="en-US" altLang="ko-KR" b="1" dirty="0"/>
                  <a:t>Roll, Pitch, Yaw</a:t>
                </a:r>
                <a:r>
                  <a:rPr lang="ko-KR" altLang="en-US" b="1" dirty="0"/>
                  <a:t>의 </a:t>
                </a:r>
                <a:r>
                  <a:rPr lang="en-US" altLang="ko-KR" b="1" dirty="0"/>
                  <a:t>3</a:t>
                </a:r>
                <a:r>
                  <a:rPr lang="ko-KR" altLang="en-US" b="1" dirty="0"/>
                  <a:t>축</a:t>
                </a:r>
                <a:r>
                  <a:rPr lang="ko-KR" altLang="en-US" dirty="0"/>
                  <a:t>을 나타내며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드론은</a:t>
                </a:r>
                <a:r>
                  <a:rPr lang="ko-KR" altLang="en-US" dirty="0"/>
                  <a:t> 이 세 축을 제어함으로써 방향과 안정성을 유지한다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하단 그림은 </a:t>
                </a:r>
                <a:r>
                  <a:rPr lang="ko-KR" altLang="en-US" dirty="0" err="1"/>
                  <a:t>멀티콥터에서</a:t>
                </a:r>
                <a:r>
                  <a:rPr lang="ko-KR" altLang="en-US" dirty="0"/>
                  <a:t> 일반적으로 사용되는 </a:t>
                </a:r>
                <a:r>
                  <a:rPr lang="ko-KR" altLang="en-US" b="1" dirty="0"/>
                  <a:t>계단식</a:t>
                </a:r>
                <a:r>
                  <a:rPr lang="en-US" altLang="ko-KR" b="1" dirty="0"/>
                  <a:t>(cascaded) </a:t>
                </a:r>
                <a:r>
                  <a:rPr lang="ko-KR" altLang="en-US" b="1" dirty="0"/>
                  <a:t>제어 구조</a:t>
                </a:r>
                <a:r>
                  <a:rPr lang="ko-KR" altLang="en-US" dirty="0"/>
                  <a:t>의 개념도이다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구조는 </a:t>
                </a:r>
                <a:r>
                  <a:rPr lang="ko-KR" altLang="en-US" b="1" dirty="0"/>
                  <a:t>외부 루프</a:t>
                </a:r>
                <a:r>
                  <a:rPr lang="ko-KR" altLang="en-US" dirty="0"/>
                  <a:t>와 </a:t>
                </a:r>
                <a:r>
                  <a:rPr lang="ko-KR" altLang="en-US" b="1" dirty="0"/>
                  <a:t>내부 루프</a:t>
                </a:r>
                <a:r>
                  <a:rPr lang="ko-KR" altLang="en-US" dirty="0"/>
                  <a:t>로 구성된다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루프는 목표 위치와 속도를 기준으로 현재 상태와의 오차를 계산하고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드론이</a:t>
                </a:r>
                <a:r>
                  <a:rPr lang="ko-KR" altLang="en-US" dirty="0"/>
                  <a:t> 이동하기 위해 </a:t>
                </a:r>
                <a:r>
                  <a:rPr lang="ko-KR" altLang="en-US" b="1" dirty="0"/>
                  <a:t>필요한 가속도 수준을 산출</a:t>
                </a:r>
                <a:r>
                  <a:rPr lang="ko-KR" altLang="en-US" dirty="0"/>
                  <a:t>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가속도를 만들어내기 위해 필요한 **목표 자세</a:t>
                </a:r>
                <a:r>
                  <a:rPr lang="en-US" altLang="ko-KR" dirty="0"/>
                  <a:t>(roll, pitch)**</a:t>
                </a:r>
                <a:r>
                  <a:rPr lang="ko-KR" altLang="en-US" dirty="0"/>
                  <a:t>가 외부 루프의 출력으로 생성된다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외부 루프는 자세를 직접 제어하는 것이 아니라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위치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속도 제어의 결과로 </a:t>
                </a:r>
                <a:r>
                  <a:rPr lang="ko-KR" altLang="en-US" b="1" dirty="0"/>
                  <a:t>자세 명령을 계산</a:t>
                </a:r>
                <a:r>
                  <a:rPr lang="ko-KR" altLang="en-US" dirty="0"/>
                  <a:t>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내부 루프는 외부 루프에서 생성된 목표 자세를 실제로 구현하는 역할을 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자세 및 각속도 제어기를 통해 </a:t>
                </a:r>
                <a:r>
                  <a:rPr lang="en-US" altLang="ko-KR" dirty="0"/>
                  <a:t>IMU </a:t>
                </a:r>
                <a:r>
                  <a:rPr lang="ko-KR" altLang="en-US" dirty="0"/>
                  <a:t>기반으로 모터 출력을 고주파로 제어하여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드론이</a:t>
                </a:r>
                <a:r>
                  <a:rPr lang="ko-KR" altLang="en-US" dirty="0"/>
                  <a:t> 목표 자세를 빠르고 안정적으로 추종하도록 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이와 같은 계단식 제어 구조는 대부분의 </a:t>
                </a:r>
                <a:r>
                  <a:rPr lang="ko-KR" altLang="en-US" dirty="0" err="1"/>
                  <a:t>멀티콥터</a:t>
                </a:r>
                <a:r>
                  <a:rPr lang="ko-KR" altLang="en-US" dirty="0"/>
                  <a:t> 비행 제어 시스템에서 표준적으로 사용된다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외부 자세 제어 루프는 </a:t>
                </a:r>
                <a:r>
                  <a:rPr lang="en-US" altLang="ko-KR" dirty="0"/>
                  <a:t>PX4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Attitude Outer Loop</a:t>
                </a:r>
                <a:r>
                  <a:rPr lang="ko-KR" altLang="en-US" dirty="0"/>
                  <a:t>에 해당한다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루프의 목적은 목표 자세와 현재 자세의 오차를 계산하여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이를 각속도 </a:t>
                </a:r>
                <a:r>
                  <a:rPr lang="ko-KR" altLang="en-US" dirty="0" err="1"/>
                  <a:t>목표값으로</a:t>
                </a:r>
                <a:r>
                  <a:rPr lang="ko-KR" altLang="en-US" dirty="0"/>
                  <a:t> 변환하는 것이다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입력으로는 목표 자세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𝑞_𝑠𝑝</a:t>
                </a:r>
                <a:r>
                  <a:rPr lang="ko-KR" altLang="en-US" dirty="0"/>
                  <a:t>와 현재 추정된 자세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ko-KR" altLang="en-US" dirty="0"/>
                  <a:t>가 사용된다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두 자세의 차이는 </a:t>
                </a:r>
                <a:r>
                  <a:rPr lang="en-US" altLang="ko-KR" dirty="0"/>
                  <a:t>Error quaternion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𝑞_𝑒</a:t>
                </a:r>
                <a:r>
                  <a:rPr lang="ko-KR" altLang="en-US" dirty="0"/>
                  <a:t>로 계산되며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이는 현재 자세에서 목표 자세로 이동하기 위해 필요한 회전을 의미한다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Error quaternion</a:t>
                </a:r>
                <a:r>
                  <a:rPr lang="ko-KR" altLang="en-US" dirty="0"/>
                  <a:t>에서 회전의 크기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스칼라 성분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는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ko-KR" altLang="en-US" dirty="0"/>
                  <a:t>로 추출되고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회전의 방향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벡터 성분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은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 ⃗_𝑒</a:t>
                </a:r>
                <a:r>
                  <a:rPr lang="ko-KR" altLang="en-US" dirty="0"/>
                  <a:t>로 분리된다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이때 </a:t>
                </a:r>
                <a:r>
                  <a:rPr lang="en-US" altLang="ko-KR" dirty="0" err="1"/>
                  <a:t>sgn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연산은 </a:t>
                </a:r>
                <a:r>
                  <a:rPr lang="ko-KR" altLang="en-US" dirty="0" err="1"/>
                  <a:t>쿼터니언의</a:t>
                </a:r>
                <a:r>
                  <a:rPr lang="ko-KR" altLang="en-US" dirty="0"/>
                  <a:t> 부호를 결정하여 최단 회전 경로</a:t>
                </a:r>
                <a:r>
                  <a:rPr lang="en-US" altLang="ko-KR" dirty="0"/>
                  <a:t>(shortest rotation)</a:t>
                </a:r>
                <a:r>
                  <a:rPr lang="ko-KR" altLang="en-US" dirty="0"/>
                  <a:t>를 선택한다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회전의 크기와 방향 성분은 곱셈 연산을 통해 결합되며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이 결과는 자세 오차에 비례한 각속도 방향 성분을 나타낸다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자세 제어기는 비례 이득</a:t>
                </a:r>
                <a:r>
                  <a:rPr lang="en-US" altLang="ko-KR" dirty="0"/>
                  <a:t>(P gain)</a:t>
                </a:r>
                <a:r>
                  <a:rPr lang="ko-KR" altLang="en-US" dirty="0"/>
                  <a:t>만을 사용하는 </a:t>
                </a:r>
                <a:r>
                  <a:rPr lang="en-US" altLang="ko-KR" dirty="0"/>
                  <a:t>P </a:t>
                </a:r>
                <a:r>
                  <a:rPr lang="ko-KR" altLang="en-US" dirty="0"/>
                  <a:t>제어</a:t>
                </a:r>
                <a:r>
                  <a:rPr lang="en-US" altLang="ko-KR" dirty="0"/>
                  <a:t>(Proportional Control)</a:t>
                </a:r>
                <a:r>
                  <a:rPr lang="ko-KR" altLang="en-US" dirty="0"/>
                  <a:t> 구조로 구성되며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자세 오차에 비례하여 목표 각속도 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_𝑠𝑝</a:t>
                </a:r>
                <a:r>
                  <a:rPr lang="ko-KR" altLang="en-US" dirty="0"/>
                  <a:t>를 생성한다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생성된 각속도 </a:t>
                </a:r>
                <a:r>
                  <a:rPr lang="ko-KR" altLang="en-US" dirty="0" err="1"/>
                  <a:t>목표값은</a:t>
                </a:r>
                <a:r>
                  <a:rPr lang="ko-KR" altLang="en-US" dirty="0"/>
                  <a:t> 포화</a:t>
                </a:r>
                <a:r>
                  <a:rPr lang="en-US" altLang="ko-KR" dirty="0"/>
                  <a:t>(saturation) </a:t>
                </a:r>
                <a:r>
                  <a:rPr lang="ko-KR" altLang="en-US" dirty="0"/>
                  <a:t>블록을 통해 물리적 한계 내로 제한되며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최종적으로 내부 각속도 제어 루프</a:t>
                </a:r>
                <a:r>
                  <a:rPr lang="en-US" altLang="ko-KR" dirty="0"/>
                  <a:t>(Rate Controller)</a:t>
                </a:r>
                <a:r>
                  <a:rPr lang="ko-KR" altLang="en-US" dirty="0"/>
                  <a:t>에 입력된다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자세 제어 루프는 </a:t>
                </a:r>
                <a:r>
                  <a:rPr lang="ko-KR" altLang="en-US" dirty="0" err="1"/>
                  <a:t>저대역폭</a:t>
                </a:r>
                <a:r>
                  <a:rPr lang="en-US" altLang="ko-KR" dirty="0"/>
                  <a:t>(low bandwidth) </a:t>
                </a:r>
                <a:r>
                  <a:rPr lang="ko-KR" altLang="en-US" dirty="0"/>
                  <a:t>제어를 담당하며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실제 비행 안정화와 빠른 응답은 내부 고주파 </a:t>
                </a:r>
                <a:r>
                  <a:rPr lang="en-US" altLang="ko-KR" dirty="0"/>
                  <a:t>Rate PID </a:t>
                </a:r>
                <a:r>
                  <a:rPr lang="ko-KR" altLang="en-US" dirty="0"/>
                  <a:t>제어 루프에서 수행된다</a:t>
                </a:r>
                <a:r>
                  <a:rPr lang="en-US" altLang="ko-KR" dirty="0"/>
                  <a:t>.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01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슬라이드는 </a:t>
            </a:r>
            <a:r>
              <a:rPr lang="ko-KR" altLang="en-US" dirty="0" err="1"/>
              <a:t>드론</a:t>
            </a:r>
            <a:r>
              <a:rPr lang="ko-KR" altLang="en-US" dirty="0"/>
              <a:t> 자세 제어에서 요구되는 실시간 제어 루프 구조와 주기 특성을 정리한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상단 블록도는 </a:t>
            </a:r>
            <a:r>
              <a:rPr lang="en-US" altLang="ko-KR" dirty="0"/>
              <a:t>IMU 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자세 제어기</a:t>
            </a:r>
            <a:r>
              <a:rPr lang="en-US" altLang="ko-KR" dirty="0"/>
              <a:t>(PID), PWM 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모터로 이어지는 전형적인 제어 흐름을 나타내며</a:t>
            </a:r>
            <a:r>
              <a:rPr lang="en-US" altLang="ko-KR" dirty="0"/>
              <a:t>, </a:t>
            </a:r>
            <a:r>
              <a:rPr lang="ko-KR" altLang="en-US" dirty="0"/>
              <a:t>각 단계마다 서로 다른 동작 주기를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IMU </a:t>
            </a:r>
            <a:r>
              <a:rPr lang="ko-KR" altLang="en-US" dirty="0"/>
              <a:t>센서는 일반적으로 </a:t>
            </a:r>
            <a:r>
              <a:rPr lang="en-US" altLang="ko-KR" dirty="0"/>
              <a:t>1~8 kHz </a:t>
            </a:r>
            <a:r>
              <a:rPr lang="ko-KR" altLang="en-US" dirty="0"/>
              <a:t>범위의 높은 샘플링 주기로 </a:t>
            </a:r>
            <a:r>
              <a:rPr lang="ko-KR" altLang="en-US" dirty="0" err="1"/>
              <a:t>자이로</a:t>
            </a:r>
            <a:r>
              <a:rPr lang="ko-KR" altLang="en-US" dirty="0"/>
              <a:t> 및 가속도 데이터를 생성하며</a:t>
            </a:r>
            <a:r>
              <a:rPr lang="en-US" altLang="ko-KR" dirty="0"/>
              <a:t>, </a:t>
            </a:r>
            <a:r>
              <a:rPr lang="ko-KR" altLang="en-US" dirty="0"/>
              <a:t>이는 기체의 미세한 회전과 진동을 포착하기 위함이다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Flight Controller </a:t>
            </a:r>
            <a:r>
              <a:rPr lang="ko-KR" altLang="en-US" dirty="0"/>
              <a:t>펌웨어의 제어 루프는 이러한 센서 데이터를 처리하여 자세</a:t>
            </a:r>
            <a:r>
              <a:rPr lang="en-US" altLang="ko-KR" dirty="0"/>
              <a:t>(Pitch, Roll, Yaw)</a:t>
            </a:r>
            <a:r>
              <a:rPr lang="ko-KR" altLang="en-US" dirty="0"/>
              <a:t>를 계산하고 모터 명령을 생성하는 주기로</a:t>
            </a:r>
            <a:r>
              <a:rPr lang="en-US" altLang="ko-KR" dirty="0"/>
              <a:t>, </a:t>
            </a:r>
            <a:r>
              <a:rPr lang="ko-KR" altLang="en-US" dirty="0"/>
              <a:t>보통 </a:t>
            </a:r>
            <a:r>
              <a:rPr lang="en-US" altLang="ko-KR" dirty="0"/>
              <a:t>1~8 kHz </a:t>
            </a:r>
            <a:r>
              <a:rPr lang="ko-KR" altLang="en-US" dirty="0"/>
              <a:t>범위에서 동작한다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이후 모터 제어 단계에서는 </a:t>
            </a:r>
            <a:r>
              <a:rPr lang="en-US" altLang="ko-KR" dirty="0"/>
              <a:t>PWM </a:t>
            </a:r>
            <a:r>
              <a:rPr lang="ko-KR" altLang="en-US" dirty="0"/>
              <a:t>또는 디지털 프로토콜을 통해 수백 </a:t>
            </a:r>
            <a:r>
              <a:rPr lang="en-US" altLang="ko-KR" dirty="0"/>
              <a:t>Hz </a:t>
            </a:r>
            <a:r>
              <a:rPr lang="ko-KR" altLang="en-US" dirty="0"/>
              <a:t>수준으로 출력이 전달된다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하단 표는 주요 </a:t>
            </a:r>
            <a:r>
              <a:rPr lang="en-US" altLang="ko-KR" dirty="0"/>
              <a:t>Flight Controller </a:t>
            </a:r>
            <a:r>
              <a:rPr lang="ko-KR" altLang="en-US" dirty="0"/>
              <a:t>펌웨어별 </a:t>
            </a:r>
            <a:r>
              <a:rPr lang="en-US" altLang="ko-KR" dirty="0"/>
              <a:t>IMU </a:t>
            </a:r>
            <a:r>
              <a:rPr lang="ko-KR" altLang="en-US" dirty="0"/>
              <a:t>센서 루프와 제어 루프 속도를 비교한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ArduPilot</a:t>
            </a:r>
            <a:r>
              <a:rPr lang="ko-KR" altLang="en-US" dirty="0"/>
              <a:t>은 센서 루프는 가변적이나 제어 루프는 스케줄러 구조에 의해 약 </a:t>
            </a:r>
            <a:r>
              <a:rPr lang="en-US" altLang="ko-KR" dirty="0"/>
              <a:t>400 Hz</a:t>
            </a:r>
            <a:r>
              <a:rPr lang="ko-KR" altLang="en-US" dirty="0"/>
              <a:t>로 고정되어 있으며</a:t>
            </a:r>
            <a:r>
              <a:rPr lang="en-US" altLang="ko-KR" dirty="0"/>
              <a:t>, PX4</a:t>
            </a:r>
            <a:r>
              <a:rPr lang="ko-KR" altLang="en-US" dirty="0"/>
              <a:t>와 </a:t>
            </a:r>
            <a:r>
              <a:rPr lang="en-US" altLang="ko-KR" dirty="0" err="1"/>
              <a:t>Betaflight</a:t>
            </a:r>
            <a:r>
              <a:rPr lang="ko-KR" altLang="en-US" dirty="0"/>
              <a:t>는 파라미터 설정을 통해 제어 루프 주기를 비교적 유연하게 조정할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같은 차이는 시뮬레이터 설계 시 단순히 센서 데이터를 생성하는 </a:t>
            </a:r>
            <a:r>
              <a:rPr lang="ko-KR" altLang="en-US" dirty="0" err="1"/>
              <a:t>것뿐만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실제 펌웨어와 동일한 제어 루프 주기와 타이밍 구조를 재현하는 것이 중요함을 보여준다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559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슬라이드는 기존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시뮬레이터의 전반적인 구조와 제어 관점에서의 한계를 정리한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오른쪽에 제시된 </a:t>
            </a:r>
            <a:r>
              <a:rPr lang="en-US" altLang="ko-KR" dirty="0" err="1"/>
              <a:t>AirSim</a:t>
            </a:r>
            <a:r>
              <a:rPr lang="en-US" altLang="ko-KR" dirty="0"/>
              <a:t> </a:t>
            </a:r>
            <a:r>
              <a:rPr lang="ko-KR" altLang="en-US" dirty="0"/>
              <a:t>아키텍처는 물리 엔진</a:t>
            </a:r>
            <a:r>
              <a:rPr lang="en-US" altLang="ko-KR" dirty="0"/>
              <a:t>, </a:t>
            </a:r>
            <a:r>
              <a:rPr lang="ko-KR" altLang="en-US" dirty="0"/>
              <a:t>센서 모델</a:t>
            </a:r>
            <a:r>
              <a:rPr lang="en-US" altLang="ko-KR" dirty="0"/>
              <a:t>, </a:t>
            </a:r>
            <a:r>
              <a:rPr lang="ko-KR" altLang="en-US" dirty="0"/>
              <a:t>환경 모델</a:t>
            </a:r>
            <a:r>
              <a:rPr lang="en-US" altLang="ko-KR" dirty="0"/>
              <a:t>, </a:t>
            </a:r>
            <a:r>
              <a:rPr lang="ko-KR" altLang="en-US" dirty="0"/>
              <a:t>렌더링 및 </a:t>
            </a:r>
            <a:r>
              <a:rPr lang="en-US" altLang="ko-KR" dirty="0"/>
              <a:t>API </a:t>
            </a:r>
            <a:r>
              <a:rPr lang="ko-KR" altLang="en-US" dirty="0"/>
              <a:t>계층이 분리된 구조로</a:t>
            </a:r>
            <a:r>
              <a:rPr lang="en-US" altLang="ko-KR" dirty="0"/>
              <a:t>, </a:t>
            </a:r>
            <a:r>
              <a:rPr lang="ko-KR" altLang="en-US" dirty="0"/>
              <a:t>시각화 및 인지</a:t>
            </a:r>
            <a:r>
              <a:rPr lang="en-US" altLang="ko-KR" dirty="0"/>
              <a:t>(perception) </a:t>
            </a:r>
            <a:r>
              <a:rPr lang="ko-KR" altLang="en-US" dirty="0"/>
              <a:t>연구에는 적합하나 제어 루프 관점에서는 여러 계층을 거치며 지연과 </a:t>
            </a:r>
            <a:r>
              <a:rPr lang="ko-KR" altLang="en-US" dirty="0" err="1"/>
              <a:t>지터가</a:t>
            </a:r>
            <a:r>
              <a:rPr lang="ko-KR" altLang="en-US" dirty="0"/>
              <a:t> 발생한다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하단 표는 대표적인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시뮬레이터들의 센서 루프 및 제어 루프 속도를 비교한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SITL</a:t>
            </a:r>
            <a:r>
              <a:rPr lang="ko-KR" altLang="en-US" dirty="0"/>
              <a:t>은 비교적 높은 제어 루프 속도를 제공하지만 고주파 </a:t>
            </a:r>
            <a:r>
              <a:rPr lang="en-US" altLang="ko-KR" dirty="0"/>
              <a:t>IMU </a:t>
            </a:r>
            <a:r>
              <a:rPr lang="ko-KR" altLang="en-US" dirty="0"/>
              <a:t>센서 루프 재현에는 한계가 있으며</a:t>
            </a:r>
            <a:r>
              <a:rPr lang="en-US" altLang="ko-KR" dirty="0"/>
              <a:t>, Gazebo</a:t>
            </a:r>
            <a:r>
              <a:rPr lang="ko-KR" altLang="en-US" dirty="0"/>
              <a:t>와 </a:t>
            </a:r>
            <a:r>
              <a:rPr lang="en-US" altLang="ko-KR" dirty="0" err="1"/>
              <a:t>AirSim</a:t>
            </a:r>
            <a:r>
              <a:rPr lang="ko-KR" altLang="en-US" dirty="0"/>
              <a:t>은 </a:t>
            </a:r>
            <a:r>
              <a:rPr lang="en-US" altLang="ko-KR" dirty="0"/>
              <a:t>ROS </a:t>
            </a:r>
            <a:r>
              <a:rPr lang="ko-KR" altLang="en-US" dirty="0"/>
              <a:t>또는 </a:t>
            </a:r>
            <a:r>
              <a:rPr lang="en-US" altLang="ko-KR" dirty="0"/>
              <a:t>RPC </a:t>
            </a:r>
            <a:r>
              <a:rPr lang="ko-KR" altLang="en-US" dirty="0"/>
              <a:t>기반 통신 구조로 인해 센서 및 제어 루프 주기가 수백 </a:t>
            </a:r>
            <a:r>
              <a:rPr lang="en-US" altLang="ko-KR" dirty="0"/>
              <a:t>Hz </a:t>
            </a:r>
            <a:r>
              <a:rPr lang="ko-KR" altLang="en-US" dirty="0"/>
              <a:t>수준으로 제한된다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MATLAB/Simulink</a:t>
            </a:r>
            <a:r>
              <a:rPr lang="ko-KR" altLang="en-US" dirty="0"/>
              <a:t>는 모델 기반 설계에 적합하지만</a:t>
            </a:r>
            <a:r>
              <a:rPr lang="en-US" altLang="ko-KR" dirty="0"/>
              <a:t>, </a:t>
            </a:r>
            <a:r>
              <a:rPr lang="ko-KR" altLang="en-US" dirty="0"/>
              <a:t>실시간 스케줄링 부재로 고주파 제어 루프 구현에는 구조적인 제약이 존재한다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같은 구조적 한계로 인해 기존 시뮬레이터에서는 </a:t>
            </a:r>
            <a:r>
              <a:rPr lang="ko-KR" altLang="en-US" dirty="0" err="1"/>
              <a:t>실기체</a:t>
            </a:r>
            <a:r>
              <a:rPr lang="ko-KR" altLang="en-US" dirty="0"/>
              <a:t> 수준의 고주파 제어 특성을 정확히 재현하기 어려우며</a:t>
            </a:r>
            <a:r>
              <a:rPr lang="en-US" altLang="ko-KR" dirty="0"/>
              <a:t>, </a:t>
            </a:r>
            <a:r>
              <a:rPr lang="ko-KR" altLang="en-US" dirty="0"/>
              <a:t>이는 시뮬레이션 기반 제어기 튜닝의 한계로 이어진다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0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FFEA-B934-DA44-3F2F-0680FF21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F45ABC-D864-A051-CD99-CAFE932D3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41332-38E3-900D-7857-B04BC4C54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866E6-F1FC-07B9-68DA-050AF91EF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9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CDCF-AF50-3F5C-E694-ABC01B21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284E67-05D9-99AC-3247-A49858367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A1C473-F509-C3DE-542F-DE9AD1A3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19462-84B4-28A6-DB3B-998950A37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21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67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3D2D-4567-45D2-0E90-50D68335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768AB-4DCC-1620-1809-004977B74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82AE34-65F2-1709-DEFD-E408F507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5DA1D-ECAB-88CE-8923-F19EBB542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96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9B54-B724-A905-32F4-12D2C31A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9D45E-B09D-1C98-2A0D-884CF8C02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5CEA20-973E-4A6B-EA66-67CC591AD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상단의 </a:t>
            </a:r>
            <a:r>
              <a:rPr lang="en-US" altLang="ko-KR" dirty="0" err="1"/>
              <a:t>AirSim</a:t>
            </a:r>
            <a:r>
              <a:rPr lang="ko-KR" altLang="en-US" dirty="0"/>
              <a:t>은 물리 엔진 기반 시뮬레이터로</a:t>
            </a:r>
            <a:r>
              <a:rPr lang="en-US" altLang="ko-KR" dirty="0"/>
              <a:t>, IMU, </a:t>
            </a:r>
            <a:r>
              <a:rPr lang="ko-KR" altLang="en-US" dirty="0"/>
              <a:t>바로미터</a:t>
            </a:r>
            <a:r>
              <a:rPr lang="en-US" altLang="ko-KR" dirty="0"/>
              <a:t>, </a:t>
            </a:r>
            <a:r>
              <a:rPr lang="ko-KR" altLang="en-US" dirty="0" err="1"/>
              <a:t>자기계</a:t>
            </a:r>
            <a:r>
              <a:rPr lang="ko-KR" altLang="en-US" dirty="0"/>
              <a:t> 센서 데이터를 생성하고</a:t>
            </a:r>
            <a:r>
              <a:rPr lang="en-US" altLang="ko-KR" dirty="0"/>
              <a:t>, </a:t>
            </a:r>
            <a:r>
              <a:rPr lang="ko-KR" altLang="en-US" dirty="0"/>
              <a:t>동시에 </a:t>
            </a:r>
            <a:r>
              <a:rPr lang="ko-KR" altLang="en-US" dirty="0" err="1"/>
              <a:t>로터</a:t>
            </a:r>
            <a:r>
              <a:rPr lang="ko-KR" altLang="en-US" dirty="0"/>
              <a:t> </a:t>
            </a:r>
            <a:r>
              <a:rPr lang="en-US" altLang="ko-KR" dirty="0"/>
              <a:t>PWM </a:t>
            </a:r>
            <a:r>
              <a:rPr lang="ko-KR" altLang="en-US" dirty="0"/>
              <a:t>입력을 받아 기체 동역학을 갱신합니다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AirSim</a:t>
            </a:r>
            <a:r>
              <a:rPr lang="ko-KR" altLang="en-US" dirty="0"/>
              <a:t>과 </a:t>
            </a:r>
            <a:r>
              <a:rPr lang="en-US" altLang="ko-KR" dirty="0"/>
              <a:t>SIL </a:t>
            </a:r>
            <a:r>
              <a:rPr lang="ko-KR" altLang="en-US" dirty="0"/>
              <a:t>컨트롤러는 운영체제 수준의 </a:t>
            </a:r>
            <a:r>
              <a:rPr lang="en-US" altLang="ko-KR" dirty="0"/>
              <a:t>Shared Memory</a:t>
            </a:r>
            <a:r>
              <a:rPr lang="ko-KR" altLang="en-US" dirty="0"/>
              <a:t>를 통해 직접 데이터를 교환하며</a:t>
            </a:r>
            <a:r>
              <a:rPr lang="en-US" altLang="ko-KR" dirty="0"/>
              <a:t>, </a:t>
            </a:r>
            <a:r>
              <a:rPr lang="ko-KR" altLang="en-US" dirty="0"/>
              <a:t>네트워크나 </a:t>
            </a:r>
            <a:r>
              <a:rPr lang="en-US" altLang="ko-KR" dirty="0"/>
              <a:t>RPC </a:t>
            </a:r>
            <a:r>
              <a:rPr lang="ko-KR" altLang="en-US" dirty="0"/>
              <a:t>호출 없이 센서와 </a:t>
            </a:r>
            <a:r>
              <a:rPr lang="ko-KR" altLang="en-US" dirty="0" err="1"/>
              <a:t>액추에이터</a:t>
            </a:r>
            <a:r>
              <a:rPr lang="ko-KR" altLang="en-US" dirty="0"/>
              <a:t> 데이터를 주고받습니다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하단의 </a:t>
            </a:r>
            <a:r>
              <a:rPr lang="en-US" altLang="ko-KR" dirty="0"/>
              <a:t>SIL </a:t>
            </a:r>
            <a:r>
              <a:rPr lang="ko-KR" altLang="en-US" dirty="0"/>
              <a:t>컨트롤러에서는 시뮬레이터로부터 전달받은 </a:t>
            </a:r>
            <a:r>
              <a:rPr lang="en-US" altLang="ko-KR" dirty="0"/>
              <a:t>IMU, BARO, MAG </a:t>
            </a:r>
            <a:r>
              <a:rPr lang="ko-KR" altLang="en-US" dirty="0"/>
              <a:t>데이터를 입력으로 받아 자세 추정을 수행합니다</a:t>
            </a:r>
            <a:r>
              <a:rPr lang="en-US" altLang="ko-KR" dirty="0"/>
              <a:t>. </a:t>
            </a:r>
            <a:r>
              <a:rPr lang="ko-KR" altLang="en-US" dirty="0"/>
              <a:t>이 예시에서는 </a:t>
            </a:r>
            <a:r>
              <a:rPr lang="en-US" altLang="ko-KR" dirty="0"/>
              <a:t>Mahony </a:t>
            </a:r>
            <a:r>
              <a:rPr lang="ko-KR" altLang="en-US" dirty="0"/>
              <a:t>필터를 사용하며</a:t>
            </a:r>
            <a:r>
              <a:rPr lang="en-US" altLang="ko-KR" dirty="0"/>
              <a:t>, EMA </a:t>
            </a:r>
            <a:r>
              <a:rPr lang="ko-KR" altLang="en-US" dirty="0"/>
              <a:t>기반의 적응 </a:t>
            </a:r>
            <a:r>
              <a:rPr lang="ko-KR" altLang="en-US" dirty="0" err="1"/>
              <a:t>게인을</a:t>
            </a:r>
            <a:r>
              <a:rPr lang="ko-KR" altLang="en-US" dirty="0"/>
              <a:t> 적용하였습니다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자세 오차에 대해 </a:t>
            </a:r>
            <a:r>
              <a:rPr lang="en-US" altLang="ko-KR" dirty="0"/>
              <a:t>Attitude P </a:t>
            </a:r>
            <a:r>
              <a:rPr lang="ko-KR" altLang="en-US" dirty="0"/>
              <a:t>제어를 수행하고</a:t>
            </a:r>
            <a:r>
              <a:rPr lang="en-US" altLang="ko-KR" dirty="0"/>
              <a:t>, </a:t>
            </a:r>
            <a:r>
              <a:rPr lang="ko-KR" altLang="en-US" dirty="0"/>
              <a:t>내부 루프에서는 </a:t>
            </a:r>
            <a:r>
              <a:rPr lang="en-US" altLang="ko-KR" dirty="0"/>
              <a:t>Rate PI+D </a:t>
            </a:r>
            <a:r>
              <a:rPr lang="ko-KR" altLang="en-US" dirty="0"/>
              <a:t>제어기를 통해 각속도를 제어합니다</a:t>
            </a:r>
            <a:r>
              <a:rPr lang="en-US" altLang="ko-KR" dirty="0"/>
              <a:t>. </a:t>
            </a:r>
            <a:r>
              <a:rPr lang="ko-KR" altLang="en-US" dirty="0"/>
              <a:t>이 제어 루프는 약 </a:t>
            </a:r>
            <a:r>
              <a:rPr lang="en-US" altLang="ko-KR" dirty="0"/>
              <a:t>400Hz</a:t>
            </a:r>
            <a:r>
              <a:rPr lang="ko-KR" altLang="en-US" dirty="0"/>
              <a:t>로 동작하며</a:t>
            </a:r>
            <a:r>
              <a:rPr lang="en-US" altLang="ko-KR" dirty="0"/>
              <a:t>, </a:t>
            </a:r>
            <a:r>
              <a:rPr lang="ko-KR" altLang="en-US" dirty="0"/>
              <a:t>최종 출력은 다시 </a:t>
            </a:r>
            <a:r>
              <a:rPr lang="en-US" altLang="ko-KR" dirty="0"/>
              <a:t>Shared Memory</a:t>
            </a:r>
            <a:r>
              <a:rPr lang="ko-KR" altLang="en-US" dirty="0"/>
              <a:t>를 통해 </a:t>
            </a:r>
            <a:r>
              <a:rPr lang="en-US" altLang="ko-KR" dirty="0" err="1"/>
              <a:t>AirSim</a:t>
            </a:r>
            <a:r>
              <a:rPr lang="ko-KR" altLang="en-US" dirty="0"/>
              <a:t>의 </a:t>
            </a:r>
            <a:r>
              <a:rPr lang="ko-KR" altLang="en-US" dirty="0" err="1"/>
              <a:t>로터</a:t>
            </a:r>
            <a:r>
              <a:rPr lang="ko-KR" altLang="en-US" dirty="0"/>
              <a:t> </a:t>
            </a:r>
            <a:r>
              <a:rPr lang="en-US" altLang="ko-KR" dirty="0"/>
              <a:t>PWM </a:t>
            </a:r>
            <a:r>
              <a:rPr lang="ko-KR" altLang="en-US" dirty="0"/>
              <a:t>입력으로 전달됩니다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구조를 통해 실제 비행 제어기와 유사한 고주파 폐루프를 시뮬레이터 상에서 구성할 수 있으며</a:t>
            </a:r>
            <a:r>
              <a:rPr lang="en-US" altLang="ko-KR" dirty="0"/>
              <a:t>, </a:t>
            </a:r>
            <a:r>
              <a:rPr lang="ko-KR" altLang="en-US" dirty="0"/>
              <a:t>통신 지연과 </a:t>
            </a:r>
            <a:r>
              <a:rPr lang="ko-KR" altLang="en-US" dirty="0" err="1"/>
              <a:t>지터를</a:t>
            </a:r>
            <a:r>
              <a:rPr lang="ko-KR" altLang="en-US" dirty="0"/>
              <a:t> 최소화한 제어 성능 평가가 가능합니다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20E1D-C4D9-A11C-AD0D-5A7E70352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559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0AF4-C2B7-5171-0A6A-3C08394B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164A4E-1252-5739-0454-9CE5E8A1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925083-77F6-C188-630A-22E92DE17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EF609-7754-B135-DFED-70F0A703E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045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366CF-792B-CFA1-8A44-A0678772A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EBCDD3-28F8-9BB8-82F1-0DA29E9EC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7912E-825E-CD46-0535-D38DB410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2586AF-1475-3DCE-9626-22E8F00F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B57174-135C-258E-AA3C-F80C6090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1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7FB0-5D14-ACB3-EEA8-C67126F3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20475-98C5-7F83-2FF2-3086279D7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BB093-1A7F-0C07-CF34-29064A5F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958B8-832F-44C9-C40F-C12AB603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50DAF-1936-0851-2751-D03CEA61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7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EB811-BC87-D84D-1687-A1760C8F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DC127-22B6-A547-33C4-EDE473CD9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BE0D6-08EF-7D80-5EEE-8A1BE60D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8C1C0-A3E1-037A-A1D4-F185B8D8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84AC1-7754-CE43-EA3A-C035ACF9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1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71942-E778-5924-EFE5-5EB75D6C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97D1-82D9-6052-01AD-9185A554F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4A750E-A954-38D0-78EA-75E92D7CC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1F09C6-7004-61C5-1F23-C2D3EDB7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E310EB-6B98-5663-145D-3C27E6FB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8C3A7-7589-29E7-EAF7-88B569A0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8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D82E7-E734-6B26-3EB6-6163087B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A5CF0-C24B-B6E7-CB06-030B6CD2B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3493E-9370-6D8A-649D-009DE01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46C2B7-FFEE-2039-E45D-55D914F80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17EC2E-0FBF-38C2-3629-D2BDEEB8F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E27F5B-B84E-FD57-D999-5361E8E8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3CF540-5D34-8426-9C9C-3F3C5E5B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38BA16-71B6-724E-6F9A-EC537191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82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A561D-B944-1079-4403-969D273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F619D7-C08C-9770-DCF8-9F353EAA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E5C992-64AA-D3A9-431A-E384158D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BD9E39-60FF-E5D0-9E34-5181E335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87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99E7A2-68FB-403F-570D-F47BF458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F9E2FB-CABB-3280-4FA6-C537D53B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AC3FF-DA1C-BFC9-38C0-1D51F39E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1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DF312-6393-381E-FE68-7DA1935B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BA897A-A2AA-5E8F-5BE4-55DFEA0AB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212841-F7F3-DA50-1907-4106D1C92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56C78-3404-5539-2911-F16CA70B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943AED-FFC6-AFBD-DB08-6D035AEB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9FA07E-6A43-33D5-6025-182A2734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22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97D97-FD7D-3CFB-4FE8-02CE771A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E9C586-7EF3-AF58-F4D0-EC3906DBB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1450DE-2472-911A-C923-C718AC570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3174A1-F88B-5258-15B2-CC5795C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34A8C4-0C56-7E46-311C-1E4689F2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22821-D6A2-A89D-3490-587860FD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04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C151A-C619-AB0B-9AD0-B61BF49B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E842E3-CCE5-E857-FCBE-8D167B345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DC7F2-EE76-436F-8A41-4AEC5EF3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DD7EC6-5BE4-20C0-35D0-8F539AF5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6281B-9A28-04AF-12F8-BF73796C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52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21F8E4-C593-5E61-91FB-86B8F7BC0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087093-BDF6-5DEF-4897-8190AD5E9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C7A13-B3A1-6F80-4860-478BEF37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EB96E-2BAB-B7EC-D275-AF82085F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37B5A-1E0A-8142-1258-827B8EFF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3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AF9CB8-501F-ED5D-BD12-ABA47736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30701F-5180-D290-C12C-0D4EE57C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EFF73-A29D-ABD8-76C3-629189A6C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C67AE-F4C2-BB93-30B6-B022496B8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8D67E-C77C-AAF2-C4E9-F8521BDCD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62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dupilot.org/copter/docs/parameters.html#ins-gyro-rate-gyro-rate-for-imus-with-fast-sampling-enable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etaflight.com/docs/wiki/configurator/configuration-tab" TargetMode="External"/><Relationship Id="rId5" Type="http://schemas.openxmlformats.org/officeDocument/2006/relationships/hyperlink" Target="https://docs.px4.io/main/en/advanced_config/parameter_reference#IMU_GYRO_RATEMAX" TargetMode="External"/><Relationship Id="rId4" Type="http://schemas.openxmlformats.org/officeDocument/2006/relationships/hyperlink" Target="https://ardupilot.org/dev/docs/code-overview-scheduling-your-new-code-to-run-intermittently.html?utm_source=chatgpt.com#scheduling-code-to-run-intermittentl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D866-960D-BB98-E567-A212C87C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3DAEB-06FC-47EE-A2B6-67730988918D}"/>
              </a:ext>
            </a:extLst>
          </p:cNvPr>
          <p:cNvSpPr txBox="1"/>
          <p:nvPr/>
        </p:nvSpPr>
        <p:spPr>
          <a:xfrm>
            <a:off x="0" y="3059668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실시간 고주파 센서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제어 루프 처리를 위한 </a:t>
            </a:r>
            <a:r>
              <a:rPr lang="ko-KR" altLang="en-US" sz="2000" b="1" dirty="0" err="1"/>
              <a:t>드론</a:t>
            </a:r>
            <a:r>
              <a:rPr lang="ko-KR" altLang="en-US" sz="2000" b="1" dirty="0"/>
              <a:t> 시뮬레이션 플랫폼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3F874-25EC-3F37-2025-19D2EBEA48CF}"/>
              </a:ext>
            </a:extLst>
          </p:cNvPr>
          <p:cNvSpPr txBox="1"/>
          <p:nvPr/>
        </p:nvSpPr>
        <p:spPr>
          <a:xfrm>
            <a:off x="10483850" y="6581001"/>
            <a:ext cx="1708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2025. 12. 10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44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F936-E10C-0132-BD2B-2A37F6EE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D8605-EF16-2F55-32A4-F749B94F29A5}"/>
              </a:ext>
            </a:extLst>
          </p:cNvPr>
          <p:cNvSpPr txBox="1"/>
          <p:nvPr/>
        </p:nvSpPr>
        <p:spPr>
          <a:xfrm>
            <a:off x="1212850" y="965200"/>
            <a:ext cx="508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목차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기술의 배경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문제점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연구의 목적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시뮬레이터 설계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실험결과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50753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5541A4-BB58-0390-EF20-59D71FD413BA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드론의</a:t>
            </a:r>
            <a:r>
              <a:rPr lang="ko-KR" altLang="en-US" b="1" dirty="0">
                <a:latin typeface="+mj-lt"/>
              </a:rPr>
              <a:t> 구성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4A1B62-E097-C813-70EA-8B6632E0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35" y="713996"/>
            <a:ext cx="7144747" cy="543000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7CEC331-C554-2D4D-CD96-9EE7F598744F}"/>
              </a:ext>
            </a:extLst>
          </p:cNvPr>
          <p:cNvSpPr/>
          <p:nvPr/>
        </p:nvSpPr>
        <p:spPr>
          <a:xfrm>
            <a:off x="2571327" y="2974763"/>
            <a:ext cx="998220" cy="7099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F914B-68B7-5995-3E7D-F21037B0B041}"/>
              </a:ext>
            </a:extLst>
          </p:cNvPr>
          <p:cNvSpPr txBox="1"/>
          <p:nvPr/>
        </p:nvSpPr>
        <p:spPr>
          <a:xfrm>
            <a:off x="7613227" y="713996"/>
            <a:ext cx="439589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드론은</a:t>
            </a:r>
            <a:r>
              <a:rPr lang="ko-KR" altLang="en-US" sz="1400" dirty="0"/>
              <a:t> 여러 센서와 제어기가 결합되어 기체의 자세를 실시간으로 </a:t>
            </a:r>
            <a:r>
              <a:rPr lang="ko-KR" altLang="en-US" sz="1400" dirty="0" err="1"/>
              <a:t>안정화시키는</a:t>
            </a:r>
            <a:r>
              <a:rPr lang="ko-KR" altLang="en-US" sz="1400" dirty="0"/>
              <a:t> 비행 로봇입니다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ko-KR" altLang="en-US" sz="1400" dirty="0"/>
              <a:t>이번 연구의 주제는 </a:t>
            </a:r>
            <a:r>
              <a:rPr lang="ko-KR" altLang="en-US" sz="1400" dirty="0" err="1"/>
              <a:t>드론의</a:t>
            </a:r>
            <a:r>
              <a:rPr lang="ko-KR" altLang="en-US" sz="1400" dirty="0"/>
              <a:t> 두뇌인 </a:t>
            </a:r>
            <a:r>
              <a:rPr lang="en-US" altLang="ko-KR" sz="1400" dirty="0"/>
              <a:t>Flight Controller</a:t>
            </a:r>
            <a:r>
              <a:rPr lang="ko-KR" altLang="en-US" sz="1400" dirty="0"/>
              <a:t>를 실제 하드웨어 없이</a:t>
            </a:r>
            <a:r>
              <a:rPr lang="en-US" altLang="ko-KR" sz="1400" dirty="0"/>
              <a:t>, </a:t>
            </a:r>
            <a:r>
              <a:rPr lang="ko-KR" altLang="en-US" sz="1400" dirty="0"/>
              <a:t>컴퓨터 안에서 실제와 동일하게 동작시키는 시뮬레이션 기술을 개발하는 것입니다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856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63780D-B49D-434F-F941-41937DEFF62C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드론의</a:t>
            </a:r>
            <a:r>
              <a:rPr lang="ko-KR" altLang="en-US" b="1" dirty="0">
                <a:latin typeface="+mj-lt"/>
              </a:rPr>
              <a:t> 자세 제어</a:t>
            </a:r>
            <a:endParaRPr lang="ko-KR" altLang="en-US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31C03CB-4138-0A67-7136-5A30525E4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98" y="806934"/>
            <a:ext cx="3289042" cy="184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FA6BFB-B065-EE26-4AFA-2A5848589CAA}"/>
              </a:ext>
            </a:extLst>
          </p:cNvPr>
          <p:cNvSpPr txBox="1"/>
          <p:nvPr/>
        </p:nvSpPr>
        <p:spPr>
          <a:xfrm>
            <a:off x="733497" y="2670820"/>
            <a:ext cx="28502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 err="1"/>
              <a:t>드론의</a:t>
            </a:r>
            <a:r>
              <a:rPr lang="ko-KR" altLang="en-US" sz="1200" b="1" dirty="0"/>
              <a:t> 자세</a:t>
            </a:r>
            <a:r>
              <a:rPr lang="en-US" altLang="ko-KR" sz="1200" b="1" dirty="0"/>
              <a:t>(Attitude) 3</a:t>
            </a:r>
            <a:r>
              <a:rPr lang="ko-KR" altLang="en-US" sz="1200" b="1" dirty="0"/>
              <a:t>축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05D2D-8D92-E573-0396-25C9D5760B83}"/>
              </a:ext>
            </a:extLst>
          </p:cNvPr>
          <p:cNvSpPr txBox="1"/>
          <p:nvPr/>
        </p:nvSpPr>
        <p:spPr>
          <a:xfrm>
            <a:off x="359246" y="6443459"/>
            <a:ext cx="1117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</a:t>
            </a:r>
            <a:r>
              <a:rPr lang="en-US" altLang="ko-KR" sz="800" dirty="0"/>
              <a:t>Generic cascaded control architecture for </a:t>
            </a:r>
            <a:r>
              <a:rPr lang="en-US" altLang="ko-KR" sz="800" dirty="0" err="1"/>
              <a:t>multicopter</a:t>
            </a:r>
            <a:r>
              <a:rPr lang="en-US" altLang="ko-KR" sz="800" dirty="0"/>
              <a:t> UAVs </a:t>
            </a:r>
            <a:r>
              <a:rPr lang="en-US" altLang="ko-KR" sz="800" b="1" dirty="0"/>
              <a:t>]</a:t>
            </a:r>
            <a:endParaRPr lang="ko-KR" altLang="en-US" sz="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888545-0301-70A6-EF30-56E0ECDA8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96" y="3276771"/>
            <a:ext cx="4643847" cy="19558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EF83CF-7F43-6783-6210-E1666B9B3FB3}"/>
              </a:ext>
            </a:extLst>
          </p:cNvPr>
          <p:cNvSpPr txBox="1"/>
          <p:nvPr/>
        </p:nvSpPr>
        <p:spPr>
          <a:xfrm>
            <a:off x="733496" y="5232649"/>
            <a:ext cx="4643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dirty="0" err="1"/>
              <a:t>멀티콥터</a:t>
            </a:r>
            <a:r>
              <a:rPr lang="ko-KR" altLang="en-US" sz="1200" dirty="0"/>
              <a:t> 계단식 제어 구조를 개념적으로 재구성한 그림</a:t>
            </a:r>
            <a:r>
              <a:rPr lang="en-US" altLang="ko-KR" sz="1200" b="1" dirty="0"/>
              <a:t>] 1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CAE21-8327-9CA2-B061-338C5B863D47}"/>
              </a:ext>
            </a:extLst>
          </p:cNvPr>
          <p:cNvSpPr txBox="1"/>
          <p:nvPr/>
        </p:nvSpPr>
        <p:spPr>
          <a:xfrm>
            <a:off x="733497" y="5820233"/>
            <a:ext cx="10798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멀티콥터의</a:t>
            </a:r>
            <a:r>
              <a:rPr lang="ko-KR" altLang="en-US" sz="1200" b="1" dirty="0"/>
              <a:t> 계단식</a:t>
            </a:r>
            <a:r>
              <a:rPr lang="en-US" altLang="ko-KR" sz="1200" b="1" dirty="0"/>
              <a:t>(cascaded) </a:t>
            </a:r>
            <a:r>
              <a:rPr lang="ko-KR" altLang="en-US" sz="1200" b="1" dirty="0"/>
              <a:t>제어 구조</a:t>
            </a:r>
            <a:br>
              <a:rPr lang="ko-KR" altLang="en-US" sz="1200" dirty="0"/>
            </a:br>
            <a:r>
              <a:rPr lang="ko-KR" altLang="en-US" sz="1200" dirty="0"/>
              <a:t>외부 루프는 위치 및 속도를 제어하여 목표 자세를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내부 루프는 자세 및 각속도를 고주파로 제어하여 모터 출력을 결정한다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399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9DA5EB-3ED9-456E-6E90-EEBB5C6DD869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</a:t>
            </a:r>
            <a:r>
              <a:rPr lang="ko-KR" altLang="en-US" b="1" dirty="0"/>
              <a:t> 자세 제어 루프의 실시간성 요구사항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5E131B-1776-913C-0A67-87189E73B30B}"/>
              </a:ext>
            </a:extLst>
          </p:cNvPr>
          <p:cNvSpPr/>
          <p:nvPr/>
        </p:nvSpPr>
        <p:spPr>
          <a:xfrm>
            <a:off x="465605" y="865257"/>
            <a:ext cx="1861169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IMU</a:t>
            </a:r>
            <a:r>
              <a:rPr lang="ko-KR" altLang="en-US" sz="1600" b="1" dirty="0"/>
              <a:t> 센서</a:t>
            </a:r>
            <a:br>
              <a:rPr lang="en-US" altLang="ko-KR" sz="1600" dirty="0"/>
            </a:br>
            <a:r>
              <a:rPr lang="en-US" altLang="ko-KR" sz="1600" dirty="0"/>
              <a:t>(Gyro + Accel)</a:t>
            </a:r>
            <a:endParaRPr lang="ko-KR" altLang="en-US" sz="16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AA8025-4D3E-4A7A-0C34-7A77BED49221}"/>
              </a:ext>
            </a:extLst>
          </p:cNvPr>
          <p:cNvSpPr/>
          <p:nvPr/>
        </p:nvSpPr>
        <p:spPr>
          <a:xfrm>
            <a:off x="3523046" y="865256"/>
            <a:ext cx="1861169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PID </a:t>
            </a:r>
            <a:r>
              <a:rPr lang="ko-KR" altLang="en-US" sz="1600" b="1" dirty="0"/>
              <a:t>제어기</a:t>
            </a:r>
            <a:br>
              <a:rPr lang="en-US" altLang="ko-KR" sz="1600" dirty="0"/>
            </a:br>
            <a:r>
              <a:rPr lang="en-US" altLang="ko-KR" sz="1600" dirty="0"/>
              <a:t>(Attitude Control)</a:t>
            </a:r>
            <a:endParaRPr lang="ko-KR" altLang="en-US" sz="16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E370A8D-FB01-50B0-2039-049C6C920A5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326774" y="1269858"/>
            <a:ext cx="11962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F089AA-E495-050F-CA25-6C2D51B7AC41}"/>
              </a:ext>
            </a:extLst>
          </p:cNvPr>
          <p:cNvSpPr/>
          <p:nvPr/>
        </p:nvSpPr>
        <p:spPr>
          <a:xfrm>
            <a:off x="6693775" y="865255"/>
            <a:ext cx="1861170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PWM</a:t>
            </a:r>
            <a:r>
              <a:rPr lang="ko-KR" altLang="en-US" sz="1600" b="1" dirty="0"/>
              <a:t> 출력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43086C9-0EE9-E080-A102-C47D0E472B1E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384215" y="1269857"/>
            <a:ext cx="130956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69AB27-89A1-02F7-6C7F-77A0BB870409}"/>
              </a:ext>
            </a:extLst>
          </p:cNvPr>
          <p:cNvSpPr txBox="1"/>
          <p:nvPr/>
        </p:nvSpPr>
        <p:spPr>
          <a:xfrm>
            <a:off x="2441074" y="957586"/>
            <a:ext cx="962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8 kHz</a:t>
            </a:r>
            <a:endParaRPr lang="en-US" altLang="ko-KR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38FB1C-A1BC-8BE6-35EC-8BB06E5948A4}"/>
              </a:ext>
            </a:extLst>
          </p:cNvPr>
          <p:cNvSpPr txBox="1"/>
          <p:nvPr/>
        </p:nvSpPr>
        <p:spPr>
          <a:xfrm>
            <a:off x="5554145" y="957586"/>
            <a:ext cx="962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1 kHz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1B1AE4-3D92-5875-9136-9DC9DE2C458D}"/>
              </a:ext>
            </a:extLst>
          </p:cNvPr>
          <p:cNvSpPr txBox="1"/>
          <p:nvPr/>
        </p:nvSpPr>
        <p:spPr>
          <a:xfrm>
            <a:off x="465604" y="1674458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기체 기울기</a:t>
            </a:r>
            <a:r>
              <a:rPr lang="en-US" altLang="ko-KR" sz="1200" dirty="0"/>
              <a:t>, </a:t>
            </a:r>
            <a:r>
              <a:rPr lang="ko-KR" altLang="en-US" sz="1200" dirty="0"/>
              <a:t>회전 측정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2EA0B3-E1CC-1A2F-181D-F251D600780B}"/>
              </a:ext>
            </a:extLst>
          </p:cNvPr>
          <p:cNvSpPr txBox="1"/>
          <p:nvPr/>
        </p:nvSpPr>
        <p:spPr>
          <a:xfrm>
            <a:off x="3523046" y="1674459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자세 안정화 계산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6517833-080C-6B6A-2824-60FC6ABCFA74}"/>
              </a:ext>
            </a:extLst>
          </p:cNvPr>
          <p:cNvSpPr/>
          <p:nvPr/>
        </p:nvSpPr>
        <p:spPr>
          <a:xfrm>
            <a:off x="9864504" y="863775"/>
            <a:ext cx="1861170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모터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589D95A-0F2F-37C3-6D8A-86D7E4FA991C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568431" y="1268377"/>
            <a:ext cx="12960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BF8559E-8EDC-E43B-B45C-0A38054BE328}"/>
              </a:ext>
            </a:extLst>
          </p:cNvPr>
          <p:cNvSpPr txBox="1"/>
          <p:nvPr/>
        </p:nvSpPr>
        <p:spPr>
          <a:xfrm>
            <a:off x="8581918" y="957587"/>
            <a:ext cx="125561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400~1000Hz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2EBD6-C531-C884-C08D-2DF921330D86}"/>
              </a:ext>
            </a:extLst>
          </p:cNvPr>
          <p:cNvSpPr txBox="1"/>
          <p:nvPr/>
        </p:nvSpPr>
        <p:spPr>
          <a:xfrm>
            <a:off x="6693775" y="1674459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모터 속도 제어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282BEA-8F2D-0184-5663-69A077058831}"/>
              </a:ext>
            </a:extLst>
          </p:cNvPr>
          <p:cNvSpPr txBox="1"/>
          <p:nvPr/>
        </p:nvSpPr>
        <p:spPr>
          <a:xfrm>
            <a:off x="9864504" y="1672978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562CF2-3478-0AC5-1B86-BC788E40989F}"/>
              </a:ext>
            </a:extLst>
          </p:cNvPr>
          <p:cNvSpPr txBox="1"/>
          <p:nvPr/>
        </p:nvSpPr>
        <p:spPr>
          <a:xfrm>
            <a:off x="394735" y="2092801"/>
            <a:ext cx="113309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</a:t>
            </a:r>
            <a:r>
              <a:rPr lang="en-US" altLang="ko-KR" sz="1600" dirty="0"/>
              <a:t>I</a:t>
            </a:r>
            <a:r>
              <a:rPr lang="en-US" altLang="ko-KR" sz="1600" b="1" dirty="0"/>
              <a:t>MU </a:t>
            </a:r>
            <a:r>
              <a:rPr lang="ko-KR" altLang="en-US" sz="1600" b="1" dirty="0"/>
              <a:t>센서는 보통 </a:t>
            </a:r>
            <a:r>
              <a:rPr lang="en-US" altLang="ko-KR" sz="1600" b="1" dirty="0"/>
              <a:t>1~8 kHz</a:t>
            </a:r>
            <a:r>
              <a:rPr lang="ko-KR" altLang="en-US" sz="1600" b="1" dirty="0"/>
              <a:t>의 센서 주기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샘플링 주기</a:t>
            </a:r>
            <a:r>
              <a:rPr lang="en-US" altLang="ko-KR" sz="1600" b="1" dirty="0"/>
              <a:t>, Sensor Sampling Rate)</a:t>
            </a:r>
            <a:r>
              <a:rPr lang="ko-KR" altLang="en-US" sz="1600" b="1" dirty="0"/>
              <a:t>로 동작</a:t>
            </a:r>
            <a:br>
              <a:rPr lang="ko-KR" altLang="en-US" sz="1600" dirty="0"/>
            </a:br>
            <a:r>
              <a:rPr lang="ko-KR" altLang="en-US" sz="1600" dirty="0"/>
              <a:t>이는 </a:t>
            </a:r>
            <a:r>
              <a:rPr lang="ko-KR" altLang="en-US" sz="1600" dirty="0" err="1"/>
              <a:t>자이로</a:t>
            </a:r>
            <a:r>
              <a:rPr lang="en-US" altLang="ko-KR" sz="1600" dirty="0"/>
              <a:t>·</a:t>
            </a:r>
            <a:r>
              <a:rPr lang="ko-KR" altLang="en-US" sz="1600" dirty="0"/>
              <a:t>가속도 데이터를 매우 높은 주기로 생산한다는 의미입니다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Flight Controller(Firmware)</a:t>
            </a:r>
            <a:r>
              <a:rPr lang="ko-KR" altLang="en-US" sz="1600" b="1" dirty="0"/>
              <a:t>의 제어 루프</a:t>
            </a:r>
            <a:r>
              <a:rPr lang="en-US" altLang="ko-KR" sz="1600" b="1" dirty="0"/>
              <a:t>(Control Loop Rate)</a:t>
            </a:r>
            <a:r>
              <a:rPr lang="ko-KR" altLang="en-US" sz="1600" b="1" dirty="0"/>
              <a:t>는</a:t>
            </a:r>
            <a:br>
              <a:rPr lang="ko-KR" altLang="en-US" sz="1600" dirty="0"/>
            </a:br>
            <a:r>
              <a:rPr lang="ko-KR" altLang="en-US" sz="1600" dirty="0"/>
              <a:t>센서 데이터를 처리하여 자세</a:t>
            </a:r>
            <a:r>
              <a:rPr lang="en-US" altLang="ko-KR" sz="1600" dirty="0"/>
              <a:t>(</a:t>
            </a:r>
            <a:r>
              <a:rPr lang="en-US" altLang="ko-KR" sz="1600" dirty="0" err="1"/>
              <a:t>Pitch·Roll·Yaw</a:t>
            </a:r>
            <a:r>
              <a:rPr lang="en-US" altLang="ko-KR" sz="1600" dirty="0"/>
              <a:t>)</a:t>
            </a:r>
            <a:r>
              <a:rPr lang="ko-KR" altLang="en-US" sz="1600" dirty="0"/>
              <a:t>를 계산하고</a:t>
            </a:r>
            <a:r>
              <a:rPr lang="en-US" altLang="ko-KR" sz="1600" dirty="0"/>
              <a:t>, </a:t>
            </a:r>
            <a:r>
              <a:rPr lang="ko-KR" altLang="en-US" sz="1600" dirty="0"/>
              <a:t>모터 명령을 생성하는 주기로</a:t>
            </a:r>
            <a:r>
              <a:rPr lang="en-US" altLang="ko-KR" sz="1600" dirty="0"/>
              <a:t>, </a:t>
            </a:r>
            <a:r>
              <a:rPr lang="ko-KR" altLang="en-US" sz="1600" dirty="0"/>
              <a:t>보통 </a:t>
            </a:r>
            <a:r>
              <a:rPr lang="en-US" altLang="ko-KR" sz="1600" b="1" dirty="0"/>
              <a:t>1~8 kHz </a:t>
            </a:r>
            <a:r>
              <a:rPr lang="ko-KR" altLang="en-US" sz="1600" b="1" dirty="0"/>
              <a:t>범위</a:t>
            </a:r>
            <a:r>
              <a:rPr lang="ko-KR" altLang="en-US" sz="1600" dirty="0"/>
              <a:t>에서 동작</a:t>
            </a:r>
            <a:endParaRPr lang="en-US" altLang="ko-KR" sz="1600" dirty="0"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4C01FF-CB3D-2773-AC17-ADC91AD7B90B}"/>
              </a:ext>
            </a:extLst>
          </p:cNvPr>
          <p:cNvSpPr txBox="1"/>
          <p:nvPr/>
        </p:nvSpPr>
        <p:spPr>
          <a:xfrm>
            <a:off x="480102" y="5706586"/>
            <a:ext cx="11330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시뮬레이터에서 실기체와 동일한 동적 특성을 재현하려면 최소 </a:t>
            </a:r>
            <a:r>
              <a:rPr lang="en-US" altLang="ko-KR" sz="1200" dirty="0"/>
              <a:t>1 kHz </a:t>
            </a:r>
            <a:r>
              <a:rPr lang="ko-KR" altLang="en-US" sz="1200" dirty="0"/>
              <a:t>이상의 </a:t>
            </a:r>
            <a:r>
              <a:rPr lang="en-US" altLang="ko-KR" sz="1200" dirty="0"/>
              <a:t>IMU ODR </a:t>
            </a:r>
            <a:r>
              <a:rPr lang="ko-KR" altLang="en-US" sz="1200" dirty="0"/>
              <a:t>및 제어 루프 주기를 지원해야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고성능 재현을 위해서는 </a:t>
            </a:r>
            <a:r>
              <a:rPr lang="en-US" altLang="ko-KR" sz="1200" dirty="0"/>
              <a:t>8 kHz </a:t>
            </a:r>
            <a:r>
              <a:rPr lang="ko-KR" altLang="en-US" sz="1200" dirty="0"/>
              <a:t>이상이 바람직하다</a:t>
            </a:r>
            <a:r>
              <a:rPr lang="en-US" altLang="ko-KR" sz="12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7334D-8D6C-0BBA-0A70-ADEB9A79A7CF}"/>
              </a:ext>
            </a:extLst>
          </p:cNvPr>
          <p:cNvSpPr txBox="1"/>
          <p:nvPr/>
        </p:nvSpPr>
        <p:spPr>
          <a:xfrm>
            <a:off x="459475" y="3654925"/>
            <a:ext cx="5847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FC(Flight Controller) Firmware</a:t>
            </a:r>
            <a:r>
              <a:rPr lang="ko-KR" altLang="en-US" sz="1600" dirty="0"/>
              <a:t>별 </a:t>
            </a:r>
            <a:r>
              <a:rPr lang="en-US" altLang="ko-KR" sz="1600" dirty="0"/>
              <a:t>IMU </a:t>
            </a:r>
            <a:r>
              <a:rPr lang="ko-KR" altLang="en-US" sz="1600" dirty="0"/>
              <a:t>샘플링 속도</a:t>
            </a:r>
            <a:endParaRPr lang="ko-KR" altLang="en-US" sz="1600" dirty="0">
              <a:effectLst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57626F-0D6B-DD64-055A-B5ABE26F6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286883"/>
              </p:ext>
            </p:extLst>
          </p:nvPr>
        </p:nvGraphicFramePr>
        <p:xfrm>
          <a:off x="480102" y="4015666"/>
          <a:ext cx="1105149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35">
                  <a:extLst>
                    <a:ext uri="{9D8B030D-6E8A-4147-A177-3AD203B41FA5}">
                      <a16:colId xmlns:a16="http://schemas.microsoft.com/office/drawing/2014/main" val="2050726570"/>
                    </a:ext>
                  </a:extLst>
                </a:gridCol>
                <a:gridCol w="2340528">
                  <a:extLst>
                    <a:ext uri="{9D8B030D-6E8A-4147-A177-3AD203B41FA5}">
                      <a16:colId xmlns:a16="http://schemas.microsoft.com/office/drawing/2014/main" val="3019296922"/>
                    </a:ext>
                  </a:extLst>
                </a:gridCol>
                <a:gridCol w="2793534">
                  <a:extLst>
                    <a:ext uri="{9D8B030D-6E8A-4147-A177-3AD203B41FA5}">
                      <a16:colId xmlns:a16="http://schemas.microsoft.com/office/drawing/2014/main" val="3608366936"/>
                    </a:ext>
                  </a:extLst>
                </a:gridCol>
                <a:gridCol w="4291901">
                  <a:extLst>
                    <a:ext uri="{9D8B030D-6E8A-4147-A177-3AD203B41FA5}">
                      <a16:colId xmlns:a16="http://schemas.microsoft.com/office/drawing/2014/main" val="2226588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Firmware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IMU </a:t>
                      </a:r>
                      <a:r>
                        <a:rPr lang="ko-KR" altLang="en-US" sz="1200" dirty="0"/>
                        <a:t>센서 루프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제어 루프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90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Ardupilot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~ 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400 Hz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INS_GYRO_RATE </a:t>
                      </a:r>
                      <a:r>
                        <a:rPr lang="en-US" altLang="ko-KR" sz="800" b="1" dirty="0"/>
                        <a:t>[1] , </a:t>
                      </a:r>
                      <a:r>
                        <a:rPr lang="en-US" altLang="ko-KR" sz="1200" dirty="0"/>
                        <a:t>SCHED_LOOP_RATE </a:t>
                      </a:r>
                      <a:r>
                        <a:rPr lang="en-US" altLang="ko-KR" sz="800" dirty="0"/>
                        <a:t>[2]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72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PX4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Hz ~ 2000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IMU_GYRO_RATEMAX 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[3]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737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Betaflight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 ~ 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 ~ 4 kHz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Gyro update frequency, PID loop frequency </a:t>
                      </a:r>
                      <a:r>
                        <a:rPr lang="en-US" altLang="ko-KR" sz="800" dirty="0"/>
                        <a:t>[4]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720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075B52-6628-5E30-6FA3-1A1C66F6DFAE}"/>
              </a:ext>
            </a:extLst>
          </p:cNvPr>
          <p:cNvSpPr txBox="1"/>
          <p:nvPr/>
        </p:nvSpPr>
        <p:spPr>
          <a:xfrm>
            <a:off x="359246" y="6168251"/>
            <a:ext cx="11172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</a:t>
            </a:r>
            <a:r>
              <a:rPr lang="en-US" altLang="ko-KR" sz="800" b="1" dirty="0">
                <a:hlinkClick r:id="rId3"/>
              </a:rPr>
              <a:t>https://ardupilot.org/copter/docs/parameters.html#ins-gyro-rate-gyro-rate-for-imus-with-fast-sampling-enabled</a:t>
            </a:r>
            <a:r>
              <a:rPr lang="en-US" altLang="ko-KR" sz="800" b="1" dirty="0"/>
              <a:t> ]</a:t>
            </a:r>
          </a:p>
          <a:p>
            <a:r>
              <a:rPr lang="en-US" altLang="ko-KR" sz="800" b="1" dirty="0"/>
              <a:t>2 [Source: </a:t>
            </a:r>
            <a:r>
              <a:rPr lang="en-US" altLang="ko-KR" sz="800" b="1" dirty="0">
                <a:hlinkClick r:id="rId4"/>
              </a:rPr>
              <a:t>https://ardupilot.org/dev/docs/code-overview-scheduling-your-new-code-to-run-intermittently.html?utm_source=chatgpt.com#scheduling-code-to-run-intermittently</a:t>
            </a:r>
            <a:r>
              <a:rPr lang="en-US" altLang="ko-KR" sz="800" b="1" dirty="0"/>
              <a:t> ]</a:t>
            </a:r>
          </a:p>
          <a:p>
            <a:r>
              <a:rPr lang="en-US" altLang="ko-KR" sz="800" b="1" dirty="0"/>
              <a:t>3 [Source: </a:t>
            </a:r>
            <a:r>
              <a:rPr lang="en-US" altLang="ko-KR" sz="800" b="1" dirty="0">
                <a:hlinkClick r:id="rId5"/>
              </a:rPr>
              <a:t>https://docs.px4.io/main/en/advanced_config/parameter_reference#IMU_GYRO_RATEMAX</a:t>
            </a:r>
            <a:r>
              <a:rPr lang="en-US" altLang="ko-KR" sz="800" b="1" dirty="0"/>
              <a:t> - </a:t>
            </a:r>
            <a:r>
              <a:rPr lang="en-US" altLang="ko-KR" sz="800" dirty="0" err="1"/>
              <a:t>eg</a:t>
            </a:r>
            <a:r>
              <a:rPr lang="en-US" altLang="ko-KR" sz="800" dirty="0"/>
              <a:t> commonly 8 kHz</a:t>
            </a:r>
            <a:r>
              <a:rPr lang="en-US" altLang="ko-KR" sz="800" b="1" dirty="0"/>
              <a:t>]</a:t>
            </a:r>
          </a:p>
          <a:p>
            <a:r>
              <a:rPr lang="en-US" altLang="ko-KR" sz="800" b="1" dirty="0"/>
              <a:t>4 [Source: </a:t>
            </a:r>
            <a:r>
              <a:rPr lang="en-US" altLang="ko-KR" sz="800" b="1" dirty="0">
                <a:hlinkClick r:id="rId6"/>
              </a:rPr>
              <a:t>https://www.betaflight.com/docs/wiki/configurator/configuration-tab</a:t>
            </a:r>
            <a:r>
              <a:rPr lang="en-US" altLang="ko-KR" sz="800" b="1" dirty="0"/>
              <a:t> ]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92006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194F6-2AD5-26CF-7D17-FC6F48A9A5F6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/>
              <a:t>기존 </a:t>
            </a:r>
            <a:r>
              <a:rPr lang="ko-KR" altLang="en-US" b="1" dirty="0" err="1"/>
              <a:t>시뮬레이</a:t>
            </a:r>
            <a:r>
              <a:rPr lang="ko-KR" altLang="en-US" b="1" dirty="0"/>
              <a:t> 구조와 한계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930A40C-3BEB-C393-4B5A-3289E7518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26371"/>
              </p:ext>
            </p:extLst>
          </p:nvPr>
        </p:nvGraphicFramePr>
        <p:xfrm>
          <a:off x="496570" y="3830333"/>
          <a:ext cx="10782300" cy="218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230">
                  <a:extLst>
                    <a:ext uri="{9D8B030D-6E8A-4147-A177-3AD203B41FA5}">
                      <a16:colId xmlns:a16="http://schemas.microsoft.com/office/drawing/2014/main" val="4083537526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413285053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val="3416323462"/>
                    </a:ext>
                  </a:extLst>
                </a:gridCol>
                <a:gridCol w="5411470">
                  <a:extLst>
                    <a:ext uri="{9D8B030D-6E8A-4147-A177-3AD203B41FA5}">
                      <a16:colId xmlns:a16="http://schemas.microsoft.com/office/drawing/2014/main" val="3554125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시뮬레이터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센서 루프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제어 루프 속도</a:t>
                      </a: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단점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한계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214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SITL</a:t>
                      </a:r>
                      <a:br>
                        <a:rPr lang="en-US" altLang="ko-KR" sz="1200" dirty="0"/>
                      </a:br>
                      <a:r>
                        <a:rPr lang="en-US" altLang="ko-KR" sz="1050" dirty="0"/>
                        <a:t>(Software-In-The-Loop)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미지원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고주파 </a:t>
                      </a:r>
                      <a:r>
                        <a:rPr lang="en-US" altLang="ko-KR" sz="1000" dirty="0"/>
                        <a:t>IMU </a:t>
                      </a:r>
                      <a:r>
                        <a:rPr lang="ko-KR" altLang="en-US" sz="1000" dirty="0"/>
                        <a:t>루프</a:t>
                      </a:r>
                      <a:r>
                        <a:rPr lang="en-US" altLang="ko-KR" sz="1000" dirty="0"/>
                        <a:t>(&gt;1 kHz) </a:t>
                      </a:r>
                      <a:r>
                        <a:rPr lang="ko-KR" altLang="en-US" sz="1000" dirty="0"/>
                        <a:t>불가</a:t>
                      </a:r>
                      <a:r>
                        <a:rPr lang="en-US" altLang="ko-KR" sz="1000" dirty="0"/>
                        <a:t>, RPC </a:t>
                      </a:r>
                      <a:r>
                        <a:rPr lang="ko-KR" altLang="en-US" sz="1000" dirty="0"/>
                        <a:t>기반 메시지 지연 발생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외부 실제 제어기와 실시간 연동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54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Gazebo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100~</a:t>
                      </a:r>
                      <a:r>
                        <a:rPr lang="ko-KR" altLang="en-US" sz="1200" dirty="0"/>
                        <a:t>수백 </a:t>
                      </a:r>
                      <a:r>
                        <a:rPr lang="en-US" altLang="ko-KR" sz="1200" dirty="0"/>
                        <a:t>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 ~ </a:t>
                      </a:r>
                      <a:r>
                        <a:rPr lang="ko-KR" altLang="en-US" sz="1200" dirty="0"/>
                        <a:t>수백 </a:t>
                      </a:r>
                      <a:r>
                        <a:rPr lang="en-US" altLang="ko-KR" sz="1200" dirty="0"/>
                        <a:t>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MAVLink</a:t>
                      </a:r>
                      <a:r>
                        <a:rPr lang="en-US" altLang="ko-KR" sz="1000" dirty="0"/>
                        <a:t>/ROS </a:t>
                      </a:r>
                      <a:r>
                        <a:rPr lang="ko-KR" altLang="en-US" sz="1000" dirty="0"/>
                        <a:t>기반 지연과 </a:t>
                      </a:r>
                      <a:r>
                        <a:rPr lang="ko-KR" altLang="en-US" sz="1000" dirty="0" err="1"/>
                        <a:t>지터</a:t>
                      </a:r>
                      <a:r>
                        <a:rPr lang="ko-KR" altLang="en-US" sz="1000" dirty="0"/>
                        <a:t> 매우 크게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69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AirSim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333 Hz 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(RPC </a:t>
                      </a:r>
                      <a:r>
                        <a:rPr lang="ko-KR" altLang="en-US" sz="1200" dirty="0"/>
                        <a:t>사용 측정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333 Hz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프레임 기반 제어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RPC</a:t>
                      </a:r>
                      <a:r>
                        <a:rPr lang="ko-KR" altLang="en-US" sz="1000" dirty="0"/>
                        <a:t> 지연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지터</a:t>
                      </a:r>
                      <a:r>
                        <a:rPr lang="ko-KR" altLang="en-US" sz="1000" dirty="0"/>
                        <a:t>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3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MATLAB</a:t>
                      </a:r>
                    </a:p>
                    <a:p>
                      <a:pPr latinLnBrk="1"/>
                      <a:r>
                        <a:rPr lang="en-US" altLang="ko-KR" sz="1200" dirty="0"/>
                        <a:t>/Simulink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정의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 실시간성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정의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RTOS </a:t>
                      </a:r>
                      <a:r>
                        <a:rPr lang="ko-KR" altLang="en-US" sz="1200" dirty="0"/>
                        <a:t>없음 → 고주파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블록 모델 </a:t>
                      </a:r>
                      <a:r>
                        <a:rPr lang="en-US" altLang="ko-KR" sz="1000" dirty="0"/>
                        <a:t>+ MATLAB </a:t>
                      </a:r>
                      <a:r>
                        <a:rPr lang="ko-KR" altLang="en-US" sz="1000" dirty="0"/>
                        <a:t>스크립트로 구성 → </a:t>
                      </a:r>
                      <a:r>
                        <a:rPr lang="ko-KR" altLang="en-US" sz="1000" b="1" dirty="0"/>
                        <a:t>실시간 실행에 부적합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dirty="0"/>
                        <a:t>MATLAB </a:t>
                      </a:r>
                      <a:r>
                        <a:rPr lang="ko-KR" altLang="en-US" sz="1000" dirty="0"/>
                        <a:t>스크립트는 </a:t>
                      </a:r>
                      <a:r>
                        <a:rPr lang="ko-KR" altLang="en-US" sz="1000" b="1" dirty="0"/>
                        <a:t>인터프리터 방식</a:t>
                      </a:r>
                      <a:r>
                        <a:rPr lang="ko-KR" altLang="en-US" sz="1000" dirty="0"/>
                        <a:t> → 고주파</a:t>
                      </a:r>
                      <a:r>
                        <a:rPr lang="en-US" altLang="ko-KR" sz="1000" dirty="0"/>
                        <a:t>(&gt;1 kHz) </a:t>
                      </a:r>
                      <a:r>
                        <a:rPr lang="ko-KR" altLang="en-US" sz="1000" dirty="0"/>
                        <a:t>루프 구현 매우 어려움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실시간 스케줄러</a:t>
                      </a:r>
                      <a:r>
                        <a:rPr lang="en-US" altLang="ko-KR" sz="1000" dirty="0"/>
                        <a:t>(RTOS)</a:t>
                      </a:r>
                      <a:r>
                        <a:rPr lang="ko-KR" altLang="en-US" sz="1000" dirty="0"/>
                        <a:t>가 존재하지 않는다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036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5029F0-7163-6DD9-59E8-075D041979B1}"/>
              </a:ext>
            </a:extLst>
          </p:cNvPr>
          <p:cNvSpPr txBox="1"/>
          <p:nvPr/>
        </p:nvSpPr>
        <p:spPr>
          <a:xfrm>
            <a:off x="496570" y="34917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현재 시뮬레이터 종류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1B8A0-22B8-584A-E921-6332E45921C7}"/>
              </a:ext>
            </a:extLst>
          </p:cNvPr>
          <p:cNvSpPr txBox="1"/>
          <p:nvPr/>
        </p:nvSpPr>
        <p:spPr>
          <a:xfrm>
            <a:off x="359246" y="6099188"/>
            <a:ext cx="11172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로봇 시뮬레이터가 아닌 환경에서는 물리엔진</a:t>
            </a:r>
            <a:r>
              <a:rPr lang="en-US" altLang="ko-KR" sz="1200" dirty="0"/>
              <a:t>·</a:t>
            </a:r>
            <a:r>
              <a:rPr lang="ko-KR" altLang="en-US" sz="1200" dirty="0"/>
              <a:t>센서모델</a:t>
            </a:r>
            <a:r>
              <a:rPr lang="en-US" altLang="ko-KR" sz="1200" dirty="0"/>
              <a:t>·</a:t>
            </a:r>
            <a:r>
              <a:rPr lang="ko-KR" altLang="en-US" sz="1200" dirty="0"/>
              <a:t>환경 상호작용</a:t>
            </a:r>
            <a:r>
              <a:rPr lang="en-US" altLang="ko-KR" sz="1200" dirty="0"/>
              <a:t>·</a:t>
            </a:r>
            <a:r>
              <a:rPr lang="ko-KR" altLang="en-US" sz="1200" dirty="0"/>
              <a:t>실시간 루프</a:t>
            </a:r>
            <a:r>
              <a:rPr lang="en-US" altLang="ko-KR" sz="1200" dirty="0"/>
              <a:t>·</a:t>
            </a:r>
            <a:r>
              <a:rPr lang="ko-KR" altLang="en-US" sz="1200" dirty="0"/>
              <a:t>통신까지 모두 직접 구현해야 하므로 개발 난도가 급격히 높아진다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16" name="그림 15" descr="텍스트, 도표, 스크린샷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4D919B-D323-FF83-CA7D-EDE06A18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443" y="134303"/>
            <a:ext cx="5784427" cy="32537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9D321-A16C-73E5-6FA1-7245053F9BCD}"/>
              </a:ext>
            </a:extLst>
          </p:cNvPr>
          <p:cNvSpPr txBox="1"/>
          <p:nvPr/>
        </p:nvSpPr>
        <p:spPr>
          <a:xfrm>
            <a:off x="5381413" y="3366221"/>
            <a:ext cx="5777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en-US" altLang="ko-KR" sz="1400" b="1" dirty="0" err="1"/>
              <a:t>AirSim</a:t>
            </a:r>
            <a:r>
              <a:rPr lang="en-US" altLang="ko-KR" sz="1400" b="1" dirty="0"/>
              <a:t> Architecture]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29535-279D-43AA-E47A-239DBB977150}"/>
              </a:ext>
            </a:extLst>
          </p:cNvPr>
          <p:cNvSpPr txBox="1"/>
          <p:nvPr/>
        </p:nvSpPr>
        <p:spPr>
          <a:xfrm>
            <a:off x="359246" y="6443459"/>
            <a:ext cx="1117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https://microsoft.github.io/AirSim/design/#architecture]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57246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9425-3F13-4F11-DC7F-4D0F5EC0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C2CE64-D29B-9524-3657-681DCEB87C71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2. </a:t>
            </a:r>
            <a:r>
              <a:rPr lang="ko-KR" altLang="en-US" b="1" dirty="0">
                <a:latin typeface="+mj-lt"/>
              </a:rPr>
              <a:t>문제점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D56B3-6F66-D517-E882-4470CD9A4621}"/>
              </a:ext>
            </a:extLst>
          </p:cNvPr>
          <p:cNvSpPr txBox="1"/>
          <p:nvPr/>
        </p:nvSpPr>
        <p:spPr>
          <a:xfrm>
            <a:off x="602779" y="752149"/>
            <a:ext cx="1117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2.1 </a:t>
            </a:r>
            <a:r>
              <a:rPr lang="ko-KR" altLang="en-US" sz="1600" b="1" dirty="0"/>
              <a:t>센서 모델 불일치 문제</a:t>
            </a:r>
            <a:endParaRPr lang="en-US" altLang="ko-KR" sz="1600" b="1" dirty="0"/>
          </a:p>
          <a:p>
            <a:r>
              <a:rPr lang="ko-KR" altLang="en-US" sz="1600" dirty="0"/>
              <a:t>고주파 </a:t>
            </a:r>
            <a:r>
              <a:rPr lang="en-US" altLang="ko-KR" sz="1600" dirty="0"/>
              <a:t>IMU → </a:t>
            </a:r>
            <a:r>
              <a:rPr lang="ko-KR" altLang="en-US" sz="1600" dirty="0"/>
              <a:t>저주파 시뮬레이터에서는 진동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외란</a:t>
            </a:r>
            <a:r>
              <a:rPr lang="en-US" altLang="ko-KR" sz="1600" dirty="0"/>
              <a:t>/</a:t>
            </a:r>
            <a:r>
              <a:rPr lang="ko-KR" altLang="en-US" sz="1600" dirty="0"/>
              <a:t>가속도 패턴이 전혀 다르게 나타남</a:t>
            </a:r>
            <a:endParaRPr lang="en-US" altLang="ko-KR" sz="1600" dirty="0"/>
          </a:p>
          <a:p>
            <a:r>
              <a:rPr lang="ko-KR" altLang="en-US" sz="1600" dirty="0"/>
              <a:t> → 시뮬레이션 튜닝이 실기체에서 실패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2.2 </a:t>
            </a:r>
            <a:r>
              <a:rPr lang="ko-KR" altLang="en-US" sz="1600" b="1" dirty="0"/>
              <a:t>제어 루프 불일치 문제</a:t>
            </a:r>
            <a:endParaRPr lang="en-US" altLang="ko-KR" sz="1600" b="1" dirty="0"/>
          </a:p>
          <a:p>
            <a:r>
              <a:rPr lang="ko-KR" altLang="en-US" sz="1600" dirty="0" err="1"/>
              <a:t>실기체</a:t>
            </a:r>
            <a:r>
              <a:rPr lang="en-US" altLang="ko-KR" sz="1600" dirty="0"/>
              <a:t>(1~8 kHz) vs </a:t>
            </a:r>
            <a:r>
              <a:rPr lang="ko-KR" altLang="en-US" sz="1600" dirty="0"/>
              <a:t>시뮬레이터</a:t>
            </a:r>
            <a:r>
              <a:rPr lang="en-US" altLang="ko-KR" sz="1600" dirty="0"/>
              <a:t>(100~1 kHz)</a:t>
            </a:r>
            <a:br>
              <a:rPr lang="en-US" altLang="ko-KR" sz="1600" dirty="0"/>
            </a:br>
            <a:r>
              <a:rPr lang="ko-KR" altLang="en-US" sz="1600" dirty="0"/>
              <a:t> → 제어 응답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overshoot/undershoot </a:t>
            </a:r>
            <a:r>
              <a:rPr lang="ko-KR" altLang="en-US" sz="1600" dirty="0"/>
              <a:t>전부 달라짐</a:t>
            </a:r>
            <a:endParaRPr lang="en-US" altLang="ko-KR" sz="1600" dirty="0"/>
          </a:p>
          <a:p>
            <a:endParaRPr lang="ko-KR" altLang="en-US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2.3 </a:t>
            </a:r>
            <a:r>
              <a:rPr lang="ko-KR" altLang="en-US" sz="1600" b="1" dirty="0"/>
              <a:t>지연</a:t>
            </a:r>
            <a:r>
              <a:rPr lang="en-US" altLang="ko-KR" sz="1600" b="1" dirty="0"/>
              <a:t>(latency)·</a:t>
            </a:r>
            <a:r>
              <a:rPr lang="ko-KR" altLang="en-US" sz="1600" b="1" dirty="0" err="1"/>
              <a:t>지터</a:t>
            </a:r>
            <a:r>
              <a:rPr lang="en-US" altLang="ko-KR" sz="1600" b="1" dirty="0"/>
              <a:t>(jitter) </a:t>
            </a:r>
            <a:r>
              <a:rPr lang="ko-KR" altLang="en-US" sz="1600" b="1" dirty="0"/>
              <a:t>문제</a:t>
            </a:r>
          </a:p>
          <a:p>
            <a:r>
              <a:rPr lang="en-US" altLang="ko-KR" sz="1600" dirty="0"/>
              <a:t>Gazebo /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/ ROS / RPC / </a:t>
            </a:r>
            <a:r>
              <a:rPr lang="en-US" altLang="ko-KR" sz="1600" dirty="0" err="1"/>
              <a:t>MAVLink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 통신의</a:t>
            </a:r>
            <a:r>
              <a:rPr lang="en-US" altLang="ko-KR" sz="1600" dirty="0"/>
              <a:t> </a:t>
            </a:r>
            <a:r>
              <a:rPr lang="ko-KR" altLang="en-US" sz="1600" dirty="0"/>
              <a:t>구조적 한계</a:t>
            </a:r>
            <a:br>
              <a:rPr lang="ko-KR" altLang="en-US" sz="1600" dirty="0"/>
            </a:br>
            <a:r>
              <a:rPr lang="ko-KR" altLang="en-US" sz="1600" dirty="0"/>
              <a:t> → 실시간성 보장 불가 → 고주파 테스트 절대 불가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DAEF0-2163-0BB0-8A6E-DE78084F9699}"/>
              </a:ext>
            </a:extLst>
          </p:cNvPr>
          <p:cNvSpPr txBox="1"/>
          <p:nvPr/>
        </p:nvSpPr>
        <p:spPr>
          <a:xfrm>
            <a:off x="602779" y="4537801"/>
            <a:ext cx="10986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기존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시뮬레이터는 </a:t>
            </a:r>
            <a:r>
              <a:rPr lang="en-US" altLang="ko-KR" dirty="0"/>
              <a:t>IMU raw </a:t>
            </a:r>
            <a:r>
              <a:rPr lang="ko-KR" altLang="en-US" dirty="0"/>
              <a:t>데이터를 주로 내부 상태 계산 및 전달 목적에 맞게 단순화하여 모사하므로</a:t>
            </a:r>
            <a:r>
              <a:rPr lang="en-US" altLang="ko-KR" dirty="0"/>
              <a:t>, </a:t>
            </a:r>
            <a:r>
              <a:rPr lang="ko-KR" altLang="en-US" dirty="0" err="1"/>
              <a:t>실기체</a:t>
            </a:r>
            <a:r>
              <a:rPr lang="ko-KR" altLang="en-US" dirty="0"/>
              <a:t> 수준의 고주파 제어 루프 특성을 재현하는 데 한계가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73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415E-249B-4704-FF73-323C6812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6F55F-95D4-E301-2F3A-F76E96B26ECF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3. </a:t>
            </a:r>
            <a:r>
              <a:rPr lang="ko-KR" altLang="en-US" b="1" dirty="0">
                <a:latin typeface="+mj-lt"/>
              </a:rPr>
              <a:t>연구 목표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12E6D-1C52-4C8A-7CD6-943C0DF809F6}"/>
              </a:ext>
            </a:extLst>
          </p:cNvPr>
          <p:cNvSpPr txBox="1"/>
          <p:nvPr/>
        </p:nvSpPr>
        <p:spPr>
          <a:xfrm>
            <a:off x="583729" y="752149"/>
            <a:ext cx="1117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3.1 </a:t>
            </a:r>
            <a:r>
              <a:rPr lang="ko-KR" altLang="en-US" sz="1600" b="1" dirty="0"/>
              <a:t>기존 시뮬레이터 한계 검증</a:t>
            </a:r>
          </a:p>
          <a:p>
            <a:r>
              <a:rPr lang="en-US" altLang="ko-KR" sz="1600" dirty="0"/>
              <a:t> -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</a:t>
            </a:r>
            <a:r>
              <a:rPr lang="ko-KR" altLang="en-US" sz="1600" dirty="0"/>
              <a:t>환경에서 </a:t>
            </a:r>
            <a:r>
              <a:rPr lang="en-US" altLang="ko-KR" sz="1600" dirty="0"/>
              <a:t>333 Hz</a:t>
            </a:r>
            <a:r>
              <a:rPr lang="ko-KR" altLang="en-US" sz="1600" dirty="0"/>
              <a:t>를 초과하는 </a:t>
            </a:r>
            <a:r>
              <a:rPr lang="en-US" altLang="ko-KR" sz="1600" dirty="0"/>
              <a:t>IMU </a:t>
            </a:r>
            <a:r>
              <a:rPr lang="ko-KR" altLang="en-US" sz="1600" dirty="0"/>
              <a:t>샘플링 시도</a:t>
            </a:r>
          </a:p>
          <a:p>
            <a:r>
              <a:rPr lang="en-US" altLang="ko-KR" sz="1600" dirty="0"/>
              <a:t> - RPC </a:t>
            </a:r>
            <a:r>
              <a:rPr lang="ko-KR" altLang="en-US" sz="1600" dirty="0"/>
              <a:t>기반 통신을 이용한 </a:t>
            </a:r>
            <a:r>
              <a:rPr lang="en-US" altLang="ko-KR" sz="1600" b="1" dirty="0"/>
              <a:t>1 kHz IMU </a:t>
            </a:r>
            <a:r>
              <a:rPr lang="ko-KR" altLang="en-US" sz="1600" b="1" dirty="0"/>
              <a:t>데이터 수집 가능성 평가</a:t>
            </a:r>
            <a:endParaRPr lang="ko-KR" altLang="en-US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샘플 간 시간 간격 분석을 통한 </a:t>
            </a:r>
            <a:r>
              <a:rPr lang="ko-KR" altLang="en-US" sz="1600" b="1" dirty="0"/>
              <a:t>지연</a:t>
            </a:r>
            <a:r>
              <a:rPr lang="en-US" altLang="ko-KR" sz="1600" b="1" dirty="0"/>
              <a:t>(latency) </a:t>
            </a:r>
            <a:r>
              <a:rPr lang="ko-KR" altLang="en-US" sz="1600" b="1" dirty="0"/>
              <a:t>및 </a:t>
            </a:r>
            <a:r>
              <a:rPr lang="ko-KR" altLang="en-US" sz="1600" b="1" dirty="0" err="1"/>
              <a:t>지터</a:t>
            </a:r>
            <a:r>
              <a:rPr lang="en-US" altLang="ko-KR" sz="1600" b="1" dirty="0"/>
              <a:t>(jitter) </a:t>
            </a:r>
            <a:r>
              <a:rPr lang="ko-KR" altLang="en-US" sz="1600" b="1" dirty="0"/>
              <a:t>특성 측정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3.2 </a:t>
            </a:r>
            <a:r>
              <a:rPr lang="ko-KR" altLang="en-US" sz="1600" b="1" dirty="0"/>
              <a:t>공용 제어 구조 추상화</a:t>
            </a:r>
          </a:p>
          <a:p>
            <a:r>
              <a:rPr lang="en-US" altLang="ko-KR" sz="1600" dirty="0"/>
              <a:t> - RPC </a:t>
            </a:r>
            <a:r>
              <a:rPr lang="ko-KR" altLang="en-US" sz="1600" dirty="0"/>
              <a:t>및 </a:t>
            </a:r>
            <a:r>
              <a:rPr lang="en-US" altLang="ko-KR" sz="1600" dirty="0"/>
              <a:t>SHM </a:t>
            </a:r>
            <a:r>
              <a:rPr lang="ko-KR" altLang="en-US" sz="1600" dirty="0"/>
              <a:t>방식을 </a:t>
            </a:r>
            <a:r>
              <a:rPr lang="ko-KR" altLang="en-US" sz="1600" b="1" dirty="0"/>
              <a:t>동일 인터페이스로 사용 가능한 샘플링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제어 루프 추상 클래스 설계</a:t>
            </a:r>
            <a:endParaRPr lang="ko-KR" altLang="en-US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시뮬레이터와 실제 </a:t>
            </a:r>
            <a:r>
              <a:rPr lang="en-US" altLang="ko-KR" sz="1600" dirty="0"/>
              <a:t>FC </a:t>
            </a:r>
            <a:r>
              <a:rPr lang="ko-KR" altLang="en-US" sz="1600" dirty="0"/>
              <a:t>환경에 </a:t>
            </a:r>
            <a:r>
              <a:rPr lang="ko-KR" altLang="en-US" sz="1600" b="1" dirty="0"/>
              <a:t>동일 코드 구조 적용 가능성 확보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3.3 Shared Memory(SHM) </a:t>
            </a:r>
            <a:r>
              <a:rPr lang="ko-KR" altLang="en-US" sz="1600" b="1" dirty="0"/>
              <a:t>기반 고속 통신 구조 설계</a:t>
            </a:r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네트워크</a:t>
            </a:r>
            <a:r>
              <a:rPr lang="en-US" altLang="ko-KR" sz="1600" dirty="0"/>
              <a:t>/RPC</a:t>
            </a:r>
            <a:r>
              <a:rPr lang="ko-KR" altLang="en-US" sz="1600" dirty="0"/>
              <a:t>를 사용하지 않는 </a:t>
            </a:r>
            <a:r>
              <a:rPr lang="en-US" altLang="ko-KR" sz="1600" b="1" dirty="0"/>
              <a:t>SHM </a:t>
            </a:r>
            <a:r>
              <a:rPr lang="ko-KR" altLang="en-US" sz="1600" b="1" dirty="0"/>
              <a:t>기반 센서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제어 데이터 교환 라이브러리 구현</a:t>
            </a:r>
            <a:endParaRPr lang="ko-KR" altLang="en-US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별도 프로세스에서 동작 가능한 </a:t>
            </a:r>
            <a:r>
              <a:rPr lang="ko-KR" altLang="en-US" sz="1600" b="1" dirty="0"/>
              <a:t>고정 주기</a:t>
            </a:r>
            <a:r>
              <a:rPr lang="en-US" altLang="ko-KR" sz="1600" b="1" dirty="0"/>
              <a:t>(real-time) </a:t>
            </a:r>
            <a:r>
              <a:rPr lang="ko-KR" altLang="en-US" sz="1600" b="1" dirty="0"/>
              <a:t>실행 구조 설계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3.4 </a:t>
            </a:r>
            <a:r>
              <a:rPr lang="ko-KR" altLang="en-US" sz="1600" b="1" dirty="0"/>
              <a:t>비행 제어 성능 비교 실험</a:t>
            </a:r>
            <a:endParaRPr lang="en-US" altLang="ko-KR" sz="1600" b="1" dirty="0"/>
          </a:p>
          <a:p>
            <a:r>
              <a:rPr lang="en-US" altLang="ko-KR" sz="1600" dirty="0"/>
              <a:t>  (</a:t>
            </a:r>
            <a:r>
              <a:rPr lang="ko-KR" altLang="en-US" sz="1600" dirty="0"/>
              <a:t>단순 호버링 조건에서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- RPC vs SHM </a:t>
            </a:r>
            <a:r>
              <a:rPr lang="ko-KR" altLang="en-US" sz="1600" dirty="0"/>
              <a:t>최대 센서 샘플링 주파수 비교</a:t>
            </a:r>
            <a:endParaRPr lang="en-US" altLang="ko-KR" sz="1600" dirty="0"/>
          </a:p>
          <a:p>
            <a:r>
              <a:rPr lang="en-US" altLang="ko-KR" sz="1600" dirty="0"/>
              <a:t> - RPC vs SHM </a:t>
            </a:r>
            <a:r>
              <a:rPr lang="ko-KR" altLang="en-US" sz="1600" dirty="0"/>
              <a:t>지연 및 </a:t>
            </a:r>
            <a:r>
              <a:rPr lang="ko-KR" altLang="en-US" sz="1600" dirty="0" err="1"/>
              <a:t>지터</a:t>
            </a:r>
            <a:r>
              <a:rPr lang="ko-KR" altLang="en-US" sz="1600" dirty="0"/>
              <a:t> 특성 비교</a:t>
            </a:r>
            <a:endParaRPr lang="en-US" altLang="ko-KR" sz="1600" dirty="0"/>
          </a:p>
          <a:p>
            <a:r>
              <a:rPr lang="en-US" altLang="ko-KR" sz="1600" dirty="0"/>
              <a:t> - RPC vs SHM </a:t>
            </a:r>
            <a:r>
              <a:rPr lang="ko-KR" altLang="en-US" sz="1600" dirty="0"/>
              <a:t>비행 제어 성능 비교</a:t>
            </a:r>
            <a:endParaRPr lang="en-US" altLang="ko-KR" sz="1600" dirty="0"/>
          </a:p>
          <a:p>
            <a:r>
              <a:rPr lang="en-US" altLang="ko-KR" sz="1600" dirty="0"/>
              <a:t>  (</a:t>
            </a:r>
            <a:r>
              <a:rPr lang="ko-KR" altLang="en-US" sz="1600" dirty="0" err="1"/>
              <a:t>외란</a:t>
            </a:r>
            <a:r>
              <a:rPr lang="ko-KR" altLang="en-US" sz="1600" dirty="0"/>
              <a:t> 주입 시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- RPC vs SHM </a:t>
            </a:r>
            <a:r>
              <a:rPr lang="ko-KR" altLang="en-US" sz="1600" dirty="0"/>
              <a:t>비행 제어 성능 비교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1092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5DBBD-EC60-C356-9910-97AC344701CB}"/>
              </a:ext>
            </a:extLst>
          </p:cNvPr>
          <p:cNvSpPr txBox="1"/>
          <p:nvPr/>
        </p:nvSpPr>
        <p:spPr>
          <a:xfrm>
            <a:off x="406871" y="173267"/>
            <a:ext cx="115828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/>
              <a:t>기존 시뮬레이터 한계 검증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RPC </a:t>
            </a:r>
            <a:r>
              <a:rPr lang="ko-KR" altLang="en-US" sz="1600" dirty="0"/>
              <a:t>기반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</a:t>
            </a:r>
            <a:r>
              <a:rPr lang="ko-KR" altLang="en-US" sz="1600" dirty="0"/>
              <a:t>환경에서 </a:t>
            </a:r>
            <a:r>
              <a:rPr lang="en-US" altLang="ko-KR" sz="1600" dirty="0"/>
              <a:t>1 kHz IMU </a:t>
            </a:r>
            <a:r>
              <a:rPr lang="ko-KR" altLang="en-US" sz="1600" dirty="0"/>
              <a:t>데이터 수집 시</a:t>
            </a:r>
            <a:r>
              <a:rPr lang="en-US" altLang="ko-KR" sz="1600" dirty="0"/>
              <a:t>, </a:t>
            </a:r>
            <a:r>
              <a:rPr lang="ko-KR" altLang="en-US" sz="1600" dirty="0"/>
              <a:t>샘플 주기의 정확성</a:t>
            </a:r>
            <a:r>
              <a:rPr lang="en-US" altLang="ko-KR" sz="1600" dirty="0"/>
              <a:t>·</a:t>
            </a:r>
            <a:r>
              <a:rPr lang="ko-KR" altLang="en-US" sz="1600" dirty="0"/>
              <a:t>지연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지터</a:t>
            </a:r>
            <a:r>
              <a:rPr lang="ko-KR" altLang="en-US" sz="1600" dirty="0"/>
              <a:t> 특성을 정량적으로 검증한다</a:t>
            </a:r>
            <a:r>
              <a:rPr lang="en-US" altLang="ko-KR" sz="1600" dirty="0"/>
              <a:t>.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2DEAE2-5933-FE4B-9ADF-4C7EEB440AB8}"/>
              </a:ext>
            </a:extLst>
          </p:cNvPr>
          <p:cNvSpPr/>
          <p:nvPr/>
        </p:nvSpPr>
        <p:spPr>
          <a:xfrm>
            <a:off x="658025" y="2127905"/>
            <a:ext cx="1452786" cy="830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AirSim</a:t>
            </a:r>
            <a:endParaRPr lang="en-US" altLang="ko-KR" b="1" dirty="0"/>
          </a:p>
          <a:p>
            <a:pPr algn="ctr"/>
            <a:r>
              <a:rPr lang="en-US" altLang="ko-KR" b="1" dirty="0"/>
              <a:t>(IMU)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861B4E-3670-64FE-7763-5693466D1083}"/>
              </a:ext>
            </a:extLst>
          </p:cNvPr>
          <p:cNvSpPr/>
          <p:nvPr/>
        </p:nvSpPr>
        <p:spPr>
          <a:xfrm>
            <a:off x="4676682" y="1286979"/>
            <a:ext cx="6432852" cy="2037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SIL Application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014038-7E5B-8034-0353-432DEDC1DD90}"/>
              </a:ext>
            </a:extLst>
          </p:cNvPr>
          <p:cNvSpPr txBox="1"/>
          <p:nvPr/>
        </p:nvSpPr>
        <p:spPr>
          <a:xfrm>
            <a:off x="2798749" y="2128584"/>
            <a:ext cx="1696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RPC 1000 Hz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32239-F942-8488-2ECC-47E7624E696C}"/>
              </a:ext>
            </a:extLst>
          </p:cNvPr>
          <p:cNvSpPr txBox="1"/>
          <p:nvPr/>
        </p:nvSpPr>
        <p:spPr>
          <a:xfrm>
            <a:off x="2201609" y="2568445"/>
            <a:ext cx="283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지연</a:t>
            </a:r>
            <a:r>
              <a:rPr lang="en-US" altLang="ko-KR" dirty="0"/>
              <a:t>, </a:t>
            </a:r>
            <a:r>
              <a:rPr lang="ko-KR" altLang="en-US" dirty="0" err="1"/>
              <a:t>지터</a:t>
            </a:r>
            <a:r>
              <a:rPr lang="ko-KR" altLang="en-US" dirty="0"/>
              <a:t> 검출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DBCC8E-B3E6-166B-2C0A-D37A6852813D}"/>
              </a:ext>
            </a:extLst>
          </p:cNvPr>
          <p:cNvSpPr/>
          <p:nvPr/>
        </p:nvSpPr>
        <p:spPr>
          <a:xfrm>
            <a:off x="5128185" y="2126525"/>
            <a:ext cx="2178470" cy="100978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Telemetry thread</a:t>
            </a:r>
          </a:p>
          <a:p>
            <a:r>
              <a:rPr lang="en-US" altLang="ko-KR" dirty="0"/>
              <a:t>- IMU Request</a:t>
            </a:r>
          </a:p>
          <a:p>
            <a:r>
              <a:rPr lang="en-US" altLang="ko-KR" dirty="0"/>
              <a:t>- Timestamping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F136CE-F4D9-DB77-C994-1BE56DAECFA3}"/>
              </a:ext>
            </a:extLst>
          </p:cNvPr>
          <p:cNvSpPr/>
          <p:nvPr/>
        </p:nvSpPr>
        <p:spPr>
          <a:xfrm>
            <a:off x="8609881" y="2126525"/>
            <a:ext cx="2178470" cy="100978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Monitor Thread</a:t>
            </a:r>
          </a:p>
          <a:p>
            <a:r>
              <a:rPr lang="en-US" altLang="ko-KR" dirty="0"/>
              <a:t> - Latency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jitter</a:t>
            </a:r>
            <a:endParaRPr lang="ko-KR" altLang="en-US" dirty="0"/>
          </a:p>
        </p:txBody>
      </p:sp>
      <p:sp>
        <p:nvSpPr>
          <p:cNvPr id="21" name="화살표: 왼쪽/오른쪽 20">
            <a:extLst>
              <a:ext uri="{FF2B5EF4-FFF2-40B4-BE49-F238E27FC236}">
                <a16:creationId xmlns:a16="http://schemas.microsoft.com/office/drawing/2014/main" id="{F8E3969C-168E-E28F-11E2-87ED471DBCE7}"/>
              </a:ext>
            </a:extLst>
          </p:cNvPr>
          <p:cNvSpPr/>
          <p:nvPr/>
        </p:nvSpPr>
        <p:spPr>
          <a:xfrm>
            <a:off x="7488249" y="2426655"/>
            <a:ext cx="940038" cy="23073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5559AF7-BAE3-0BF2-5B55-94B533D0CB5B}"/>
              </a:ext>
            </a:extLst>
          </p:cNvPr>
          <p:cNvSpPr/>
          <p:nvPr/>
        </p:nvSpPr>
        <p:spPr>
          <a:xfrm>
            <a:off x="2245044" y="2426655"/>
            <a:ext cx="2792343" cy="1952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E52A30-513C-6847-D619-EA7B06038FB1}"/>
              </a:ext>
            </a:extLst>
          </p:cNvPr>
          <p:cNvSpPr txBox="1"/>
          <p:nvPr/>
        </p:nvSpPr>
        <p:spPr>
          <a:xfrm>
            <a:off x="406870" y="3607029"/>
            <a:ext cx="11582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SIL </a:t>
            </a:r>
            <a:r>
              <a:rPr lang="ko-KR" altLang="en-US" sz="1600" dirty="0"/>
              <a:t>애플리케이션은 </a:t>
            </a:r>
            <a:r>
              <a:rPr lang="en-US" altLang="ko-KR" sz="1600" dirty="0"/>
              <a:t>1 kHz </a:t>
            </a:r>
            <a:r>
              <a:rPr lang="ko-KR" altLang="en-US" sz="1600" dirty="0"/>
              <a:t>고정 주기로 </a:t>
            </a:r>
            <a:r>
              <a:rPr lang="en-US" altLang="ko-KR" sz="1600" dirty="0"/>
              <a:t>RPC </a:t>
            </a:r>
            <a:r>
              <a:rPr lang="ko-KR" altLang="en-US" sz="1600" dirty="0"/>
              <a:t>기반 </a:t>
            </a:r>
            <a:r>
              <a:rPr lang="en-US" altLang="ko-KR" sz="1600" dirty="0"/>
              <a:t>IMU </a:t>
            </a:r>
            <a:r>
              <a:rPr lang="ko-KR" altLang="en-US" sz="1600" dirty="0"/>
              <a:t>요청을 수행하며</a:t>
            </a:r>
            <a:r>
              <a:rPr lang="en-US" altLang="ko-KR" sz="1600" dirty="0"/>
              <a:t>, Telemetry–Monitor </a:t>
            </a:r>
            <a:r>
              <a:rPr lang="ko-KR" altLang="en-US" sz="1600" dirty="0"/>
              <a:t>스레드 분리를 통해 통신 경로에서 발생하는 지연 및 </a:t>
            </a:r>
            <a:r>
              <a:rPr lang="ko-KR" altLang="en-US" sz="1600" dirty="0" err="1"/>
              <a:t>지터</a:t>
            </a:r>
            <a:r>
              <a:rPr lang="ko-KR" altLang="en-US" sz="1600" dirty="0"/>
              <a:t> 특성을 정량적으로 측정한다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C63B4-69C3-4C1D-6A29-9E9742F5FF1E}"/>
              </a:ext>
            </a:extLst>
          </p:cNvPr>
          <p:cNvSpPr txBox="1"/>
          <p:nvPr/>
        </p:nvSpPr>
        <p:spPr>
          <a:xfrm>
            <a:off x="406871" y="5024648"/>
            <a:ext cx="11582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</a:rPr>
              <a:t>- </a:t>
            </a:r>
            <a:r>
              <a:rPr lang="ko-KR" altLang="en-US" sz="2000" dirty="0">
                <a:solidFill>
                  <a:srgbClr val="FFC000"/>
                </a:solidFill>
              </a:rPr>
              <a:t>실험 결과 </a:t>
            </a:r>
            <a:r>
              <a:rPr lang="en-US" altLang="ko-KR" sz="2000" dirty="0">
                <a:solidFill>
                  <a:srgbClr val="FFC000"/>
                </a:solidFill>
              </a:rPr>
              <a:t>-</a:t>
            </a:r>
            <a:endParaRPr lang="ko-KR" altLang="en-US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6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33F6-779D-6534-9B44-0163D687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71FB7AA-CFBE-8BA0-BE37-8FC0937A0322}"/>
              </a:ext>
            </a:extLst>
          </p:cNvPr>
          <p:cNvSpPr/>
          <p:nvPr/>
        </p:nvSpPr>
        <p:spPr>
          <a:xfrm>
            <a:off x="2854295" y="1600863"/>
            <a:ext cx="9041450" cy="356934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Abstract layers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DC29660-196D-87EA-CD66-C2097DA1475E}"/>
              </a:ext>
            </a:extLst>
          </p:cNvPr>
          <p:cNvSpPr/>
          <p:nvPr/>
        </p:nvSpPr>
        <p:spPr>
          <a:xfrm>
            <a:off x="3042286" y="2153540"/>
            <a:ext cx="2469735" cy="2746407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IMU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2F5EEF7-551D-7B61-0729-0CA3C3AF14E5}"/>
              </a:ext>
            </a:extLst>
          </p:cNvPr>
          <p:cNvCxnSpPr>
            <a:cxnSpLocks/>
          </p:cNvCxnSpPr>
          <p:nvPr/>
        </p:nvCxnSpPr>
        <p:spPr>
          <a:xfrm>
            <a:off x="3848439" y="3037210"/>
            <a:ext cx="0" cy="12120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649003D-95CF-4053-C1D4-BB775C14F2DE}"/>
              </a:ext>
            </a:extLst>
          </p:cNvPr>
          <p:cNvSpPr/>
          <p:nvPr/>
        </p:nvSpPr>
        <p:spPr>
          <a:xfrm>
            <a:off x="9229442" y="2590444"/>
            <a:ext cx="2469735" cy="2309501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Attitude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F203E6DF-5304-A3DF-0E51-BDBCF508881C}"/>
              </a:ext>
            </a:extLst>
          </p:cNvPr>
          <p:cNvCxnSpPr>
            <a:cxnSpLocks/>
            <a:stCxn id="82" idx="3"/>
            <a:endCxn id="61" idx="1"/>
          </p:cNvCxnSpPr>
          <p:nvPr/>
        </p:nvCxnSpPr>
        <p:spPr>
          <a:xfrm>
            <a:off x="2234045" y="3930162"/>
            <a:ext cx="7264589" cy="504037"/>
          </a:xfrm>
          <a:prstGeom prst="bentConnector3">
            <a:avLst>
              <a:gd name="adj1" fmla="val 4710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E2CB091-EF89-1C41-A4C4-D8108197BECB}"/>
              </a:ext>
            </a:extLst>
          </p:cNvPr>
          <p:cNvSpPr/>
          <p:nvPr/>
        </p:nvSpPr>
        <p:spPr>
          <a:xfrm>
            <a:off x="6135864" y="2590444"/>
            <a:ext cx="2469735" cy="2309501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Drivers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4440E42-286C-EFA9-DBFA-EF3F166BE4D9}"/>
              </a:ext>
            </a:extLst>
          </p:cNvPr>
          <p:cNvSpPr/>
          <p:nvPr/>
        </p:nvSpPr>
        <p:spPr>
          <a:xfrm>
            <a:off x="3311478" y="4263285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IMU_IF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97185-ACA7-2833-1D38-65113700F3A3}"/>
              </a:ext>
            </a:extLst>
          </p:cNvPr>
          <p:cNvSpPr txBox="1"/>
          <p:nvPr/>
        </p:nvSpPr>
        <p:spPr>
          <a:xfrm>
            <a:off x="406871" y="173267"/>
            <a:ext cx="115828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SIL</a:t>
            </a:r>
            <a:r>
              <a:rPr lang="ko-KR" altLang="en-US" b="1" dirty="0">
                <a:latin typeface="+mj-lt"/>
              </a:rPr>
              <a:t>의 </a:t>
            </a:r>
            <a:r>
              <a:rPr lang="ko-KR" altLang="en-US" b="1" dirty="0"/>
              <a:t>공용 제어 구조 추상화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IMU, </a:t>
            </a:r>
            <a:r>
              <a:rPr lang="ko-KR" altLang="en-US" sz="1600" dirty="0"/>
              <a:t>제어</a:t>
            </a:r>
            <a:r>
              <a:rPr lang="en-US" altLang="ko-KR" sz="1600" dirty="0"/>
              <a:t>, </a:t>
            </a:r>
            <a:r>
              <a:rPr lang="ko-KR" altLang="en-US" sz="1600" dirty="0"/>
              <a:t>통신 계층을 공통 인터페이스</a:t>
            </a:r>
            <a:r>
              <a:rPr lang="en-US" altLang="ko-KR" sz="1600" dirty="0"/>
              <a:t>(Interface) </a:t>
            </a:r>
            <a:r>
              <a:rPr lang="ko-KR" altLang="en-US" sz="1600" dirty="0"/>
              <a:t>기반으로 분리하여</a:t>
            </a:r>
            <a:r>
              <a:rPr lang="en-US" altLang="ko-KR" sz="1600" dirty="0"/>
              <a:t>, RPC, SHM </a:t>
            </a:r>
            <a:r>
              <a:rPr lang="ko-KR" altLang="en-US" sz="1600" dirty="0"/>
              <a:t>및 실제 </a:t>
            </a:r>
            <a:r>
              <a:rPr lang="en-US" altLang="ko-KR" sz="1600" dirty="0"/>
              <a:t>FC </a:t>
            </a:r>
            <a:r>
              <a:rPr lang="ko-KR" altLang="en-US" sz="1600" dirty="0"/>
              <a:t>환경에서도 동일한 상위 제어 루프 구조를 적용할 수 있는 공용 제어 아키텍처를 설계하였다</a:t>
            </a:r>
            <a:r>
              <a:rPr lang="en-US" altLang="ko-KR" sz="1600" dirty="0"/>
              <a:t>.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47D1BFB-9AB5-2654-044B-5873E704354C}"/>
              </a:ext>
            </a:extLst>
          </p:cNvPr>
          <p:cNvSpPr/>
          <p:nvPr/>
        </p:nvSpPr>
        <p:spPr>
          <a:xfrm>
            <a:off x="6405056" y="4277333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RPC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D75686D-5D1F-FC89-B7E8-4B97C7087BCF}"/>
              </a:ext>
            </a:extLst>
          </p:cNvPr>
          <p:cNvSpPr/>
          <p:nvPr/>
        </p:nvSpPr>
        <p:spPr>
          <a:xfrm>
            <a:off x="6405056" y="3759244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SHM</a:t>
            </a:r>
            <a:endParaRPr lang="ko-KR" altLang="en-US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86CE5C2-BF7E-09C3-A98F-87E86B552A72}"/>
              </a:ext>
            </a:extLst>
          </p:cNvPr>
          <p:cNvCxnSpPr>
            <a:cxnSpLocks/>
            <a:stCxn id="97" idx="2"/>
            <a:endCxn id="47" idx="0"/>
          </p:cNvCxnSpPr>
          <p:nvPr/>
        </p:nvCxnSpPr>
        <p:spPr>
          <a:xfrm>
            <a:off x="4277153" y="3565653"/>
            <a:ext cx="0" cy="697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3B09173-56FE-BF8B-4C0C-E82A1B4D9B9C}"/>
              </a:ext>
            </a:extLst>
          </p:cNvPr>
          <p:cNvSpPr/>
          <p:nvPr/>
        </p:nvSpPr>
        <p:spPr>
          <a:xfrm>
            <a:off x="3311478" y="3745196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SIM_RPC</a:t>
            </a:r>
            <a:endParaRPr lang="ko-KR" altLang="en-US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F5B0C5C-9FAF-B7D5-66FB-9F8D7771DA75}"/>
              </a:ext>
            </a:extLst>
          </p:cNvPr>
          <p:cNvCxnSpPr>
            <a:cxnSpLocks/>
          </p:cNvCxnSpPr>
          <p:nvPr/>
        </p:nvCxnSpPr>
        <p:spPr>
          <a:xfrm>
            <a:off x="4704443" y="4101076"/>
            <a:ext cx="0" cy="176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44C68D-974C-9B85-124E-385A83A6A548}"/>
              </a:ext>
            </a:extLst>
          </p:cNvPr>
          <p:cNvSpPr/>
          <p:nvPr/>
        </p:nvSpPr>
        <p:spPr>
          <a:xfrm>
            <a:off x="3311478" y="2695378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931350"/>
                      <a:gd name="csY0" fmla="*/ 56973 h 341832"/>
                      <a:gd name="csX1" fmla="*/ 56973 w 1931350"/>
                      <a:gd name="csY1" fmla="*/ 0 h 341832"/>
                      <a:gd name="csX2" fmla="*/ 529498 w 1931350"/>
                      <a:gd name="csY2" fmla="*/ 0 h 341832"/>
                      <a:gd name="csX3" fmla="*/ 947501 w 1931350"/>
                      <a:gd name="csY3" fmla="*/ 0 h 341832"/>
                      <a:gd name="csX4" fmla="*/ 1438200 w 1931350"/>
                      <a:gd name="csY4" fmla="*/ 0 h 341832"/>
                      <a:gd name="csX5" fmla="*/ 1874377 w 1931350"/>
                      <a:gd name="csY5" fmla="*/ 0 h 341832"/>
                      <a:gd name="csX6" fmla="*/ 1931350 w 1931350"/>
                      <a:gd name="csY6" fmla="*/ 56973 h 341832"/>
                      <a:gd name="csX7" fmla="*/ 1931350 w 1931350"/>
                      <a:gd name="csY7" fmla="*/ 284859 h 341832"/>
                      <a:gd name="csX8" fmla="*/ 1874377 w 1931350"/>
                      <a:gd name="csY8" fmla="*/ 341832 h 341832"/>
                      <a:gd name="csX9" fmla="*/ 1383678 w 1931350"/>
                      <a:gd name="csY9" fmla="*/ 341832 h 341832"/>
                      <a:gd name="csX10" fmla="*/ 911153 w 1931350"/>
                      <a:gd name="csY10" fmla="*/ 341832 h 341832"/>
                      <a:gd name="csX11" fmla="*/ 493150 w 1931350"/>
                      <a:gd name="csY11" fmla="*/ 341832 h 341832"/>
                      <a:gd name="csX12" fmla="*/ 56973 w 1931350"/>
                      <a:gd name="csY12" fmla="*/ 341832 h 341832"/>
                      <a:gd name="csX13" fmla="*/ 0 w 1931350"/>
                      <a:gd name="csY13" fmla="*/ 284859 h 341832"/>
                      <a:gd name="csX14" fmla="*/ 0 w 1931350"/>
                      <a:gd name="csY14" fmla="*/ 56973 h 3418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931350" h="341832" fill="none" extrusionOk="0">
                        <a:moveTo>
                          <a:pt x="0" y="56973"/>
                        </a:moveTo>
                        <a:cubicBezTo>
                          <a:pt x="-1717" y="22007"/>
                          <a:pt x="25710" y="-2734"/>
                          <a:pt x="56973" y="0"/>
                        </a:cubicBezTo>
                        <a:cubicBezTo>
                          <a:pt x="184840" y="-19389"/>
                          <a:pt x="410865" y="40804"/>
                          <a:pt x="529498" y="0"/>
                        </a:cubicBezTo>
                        <a:cubicBezTo>
                          <a:pt x="648132" y="-40804"/>
                          <a:pt x="860269" y="1480"/>
                          <a:pt x="947501" y="0"/>
                        </a:cubicBezTo>
                        <a:cubicBezTo>
                          <a:pt x="1034733" y="-1480"/>
                          <a:pt x="1295027" y="10000"/>
                          <a:pt x="1438200" y="0"/>
                        </a:cubicBezTo>
                        <a:cubicBezTo>
                          <a:pt x="1581373" y="-10000"/>
                          <a:pt x="1697781" y="35646"/>
                          <a:pt x="1874377" y="0"/>
                        </a:cubicBezTo>
                        <a:cubicBezTo>
                          <a:pt x="1908240" y="4748"/>
                          <a:pt x="1930091" y="26172"/>
                          <a:pt x="1931350" y="56973"/>
                        </a:cubicBezTo>
                        <a:cubicBezTo>
                          <a:pt x="1956304" y="150185"/>
                          <a:pt x="1925760" y="184743"/>
                          <a:pt x="1931350" y="284859"/>
                        </a:cubicBezTo>
                        <a:cubicBezTo>
                          <a:pt x="1933893" y="308503"/>
                          <a:pt x="1911539" y="347992"/>
                          <a:pt x="1874377" y="341832"/>
                        </a:cubicBezTo>
                        <a:cubicBezTo>
                          <a:pt x="1641242" y="348203"/>
                          <a:pt x="1520448" y="335998"/>
                          <a:pt x="1383678" y="341832"/>
                        </a:cubicBezTo>
                        <a:cubicBezTo>
                          <a:pt x="1246908" y="347666"/>
                          <a:pt x="1037202" y="321079"/>
                          <a:pt x="911153" y="341832"/>
                        </a:cubicBezTo>
                        <a:cubicBezTo>
                          <a:pt x="785104" y="362585"/>
                          <a:pt x="589063" y="305269"/>
                          <a:pt x="493150" y="341832"/>
                        </a:cubicBezTo>
                        <a:cubicBezTo>
                          <a:pt x="397237" y="378395"/>
                          <a:pt x="212888" y="312174"/>
                          <a:pt x="56973" y="341832"/>
                        </a:cubicBezTo>
                        <a:cubicBezTo>
                          <a:pt x="23580" y="343783"/>
                          <a:pt x="-3456" y="323721"/>
                          <a:pt x="0" y="284859"/>
                        </a:cubicBezTo>
                        <a:cubicBezTo>
                          <a:pt x="-14446" y="202382"/>
                          <a:pt x="17326" y="118655"/>
                          <a:pt x="0" y="56973"/>
                        </a:cubicBezTo>
                        <a:close/>
                      </a:path>
                      <a:path w="1931350" h="341832" stroke="0" extrusionOk="0">
                        <a:moveTo>
                          <a:pt x="0" y="56973"/>
                        </a:moveTo>
                        <a:cubicBezTo>
                          <a:pt x="-814" y="25006"/>
                          <a:pt x="20344" y="1938"/>
                          <a:pt x="56973" y="0"/>
                        </a:cubicBezTo>
                        <a:cubicBezTo>
                          <a:pt x="195106" y="-5290"/>
                          <a:pt x="428153" y="51682"/>
                          <a:pt x="547672" y="0"/>
                        </a:cubicBezTo>
                        <a:cubicBezTo>
                          <a:pt x="667191" y="-51682"/>
                          <a:pt x="847411" y="5817"/>
                          <a:pt x="983849" y="0"/>
                        </a:cubicBezTo>
                        <a:cubicBezTo>
                          <a:pt x="1120287" y="-5817"/>
                          <a:pt x="1223502" y="41322"/>
                          <a:pt x="1401852" y="0"/>
                        </a:cubicBezTo>
                        <a:cubicBezTo>
                          <a:pt x="1580202" y="-41322"/>
                          <a:pt x="1679950" y="41150"/>
                          <a:pt x="1874377" y="0"/>
                        </a:cubicBezTo>
                        <a:cubicBezTo>
                          <a:pt x="1907039" y="-2463"/>
                          <a:pt x="1926993" y="24841"/>
                          <a:pt x="1931350" y="56973"/>
                        </a:cubicBezTo>
                        <a:cubicBezTo>
                          <a:pt x="1947156" y="137635"/>
                          <a:pt x="1930847" y="189241"/>
                          <a:pt x="1931350" y="284859"/>
                        </a:cubicBezTo>
                        <a:cubicBezTo>
                          <a:pt x="1930728" y="317353"/>
                          <a:pt x="1904179" y="339903"/>
                          <a:pt x="1874377" y="341832"/>
                        </a:cubicBezTo>
                        <a:cubicBezTo>
                          <a:pt x="1671143" y="385102"/>
                          <a:pt x="1660713" y="334111"/>
                          <a:pt x="1456374" y="341832"/>
                        </a:cubicBezTo>
                        <a:cubicBezTo>
                          <a:pt x="1252035" y="349553"/>
                          <a:pt x="1174795" y="295410"/>
                          <a:pt x="1002023" y="341832"/>
                        </a:cubicBezTo>
                        <a:cubicBezTo>
                          <a:pt x="829251" y="388254"/>
                          <a:pt x="733983" y="300783"/>
                          <a:pt x="565846" y="341832"/>
                        </a:cubicBezTo>
                        <a:cubicBezTo>
                          <a:pt x="397709" y="382881"/>
                          <a:pt x="266747" y="319224"/>
                          <a:pt x="56973" y="341832"/>
                        </a:cubicBezTo>
                        <a:cubicBezTo>
                          <a:pt x="31084" y="334910"/>
                          <a:pt x="-1907" y="315587"/>
                          <a:pt x="0" y="284859"/>
                        </a:cubicBezTo>
                        <a:cubicBezTo>
                          <a:pt x="-19796" y="224757"/>
                          <a:pt x="9060" y="104382"/>
                          <a:pt x="0" y="5697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42688p</a:t>
            </a:r>
            <a:endParaRPr lang="ko-KR" altLang="en-US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AEE2830-6F51-D28E-9C18-276388A0F648}"/>
              </a:ext>
            </a:extLst>
          </p:cNvPr>
          <p:cNvSpPr/>
          <p:nvPr/>
        </p:nvSpPr>
        <p:spPr>
          <a:xfrm>
            <a:off x="9498634" y="4263283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ATT_IF</a:t>
            </a:r>
            <a:endParaRPr lang="ko-KR" altLang="en-US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8F8597C-786D-E6BC-9675-7E396BC2FBD6}"/>
              </a:ext>
            </a:extLst>
          </p:cNvPr>
          <p:cNvCxnSpPr>
            <a:cxnSpLocks/>
          </p:cNvCxnSpPr>
          <p:nvPr/>
        </p:nvCxnSpPr>
        <p:spPr>
          <a:xfrm>
            <a:off x="10148114" y="3597042"/>
            <a:ext cx="0" cy="666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2879C51-4F73-18E3-1B13-5296FFB56CF6}"/>
              </a:ext>
            </a:extLst>
          </p:cNvPr>
          <p:cNvSpPr/>
          <p:nvPr/>
        </p:nvSpPr>
        <p:spPr>
          <a:xfrm>
            <a:off x="9498634" y="3745194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Mahony</a:t>
            </a:r>
            <a:endParaRPr lang="ko-KR" altLang="en-US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207AA0F-799F-D4B7-5BAD-2E05B06624CB}"/>
              </a:ext>
            </a:extLst>
          </p:cNvPr>
          <p:cNvCxnSpPr>
            <a:cxnSpLocks/>
          </p:cNvCxnSpPr>
          <p:nvPr/>
        </p:nvCxnSpPr>
        <p:spPr>
          <a:xfrm>
            <a:off x="10771958" y="4087026"/>
            <a:ext cx="0" cy="176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E0A0554-9445-4FDF-7965-29EF874C4518}"/>
              </a:ext>
            </a:extLst>
          </p:cNvPr>
          <p:cNvSpPr/>
          <p:nvPr/>
        </p:nvSpPr>
        <p:spPr>
          <a:xfrm>
            <a:off x="9498634" y="3255210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EKF3</a:t>
            </a:r>
            <a:endParaRPr lang="ko-KR" altLang="en-US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3D86595-3CD5-E8FD-849E-496F311AD1EB}"/>
              </a:ext>
            </a:extLst>
          </p:cNvPr>
          <p:cNvCxnSpPr>
            <a:cxnSpLocks/>
            <a:stCxn id="46" idx="3"/>
            <a:endCxn id="28" idx="1"/>
          </p:cNvCxnSpPr>
          <p:nvPr/>
        </p:nvCxnSpPr>
        <p:spPr>
          <a:xfrm>
            <a:off x="5242828" y="3916112"/>
            <a:ext cx="1162228" cy="53213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479241D-46FC-9F42-C8A3-2C515CBDF3F6}"/>
              </a:ext>
            </a:extLst>
          </p:cNvPr>
          <p:cNvSpPr/>
          <p:nvPr/>
        </p:nvSpPr>
        <p:spPr>
          <a:xfrm>
            <a:off x="6405056" y="3250852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SPI</a:t>
            </a:r>
            <a:endParaRPr lang="ko-KR" altLang="en-US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3DA7D84-4322-AF4A-5B38-25C125503CA9}"/>
              </a:ext>
            </a:extLst>
          </p:cNvPr>
          <p:cNvCxnSpPr>
            <a:cxnSpLocks/>
            <a:stCxn id="49" idx="3"/>
            <a:endCxn id="75" idx="1"/>
          </p:cNvCxnSpPr>
          <p:nvPr/>
        </p:nvCxnSpPr>
        <p:spPr>
          <a:xfrm>
            <a:off x="5242828" y="2866294"/>
            <a:ext cx="1162228" cy="5554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4A35B74-9C03-3664-21B8-F36DFB812CED}"/>
              </a:ext>
            </a:extLst>
          </p:cNvPr>
          <p:cNvCxnSpPr>
            <a:cxnSpLocks/>
            <a:stCxn id="97" idx="3"/>
            <a:endCxn id="33" idx="1"/>
          </p:cNvCxnSpPr>
          <p:nvPr/>
        </p:nvCxnSpPr>
        <p:spPr>
          <a:xfrm>
            <a:off x="5242828" y="3394737"/>
            <a:ext cx="1162228" cy="53542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8B4FF71A-59F0-598B-5681-354E3F89731B}"/>
              </a:ext>
            </a:extLst>
          </p:cNvPr>
          <p:cNvSpPr/>
          <p:nvPr/>
        </p:nvSpPr>
        <p:spPr>
          <a:xfrm>
            <a:off x="492823" y="3340668"/>
            <a:ext cx="1741222" cy="1178988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SIL</a:t>
            </a:r>
            <a:endParaRPr lang="en-US" altLang="ko-KR" b="1" dirty="0"/>
          </a:p>
          <a:p>
            <a:pPr algn="ctr"/>
            <a:r>
              <a:rPr lang="en-US" altLang="ko-KR" dirty="0"/>
              <a:t>App loop</a:t>
            </a:r>
            <a:endParaRPr lang="ko-KR" altLang="en-US" dirty="0"/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4750B28B-4A30-57EA-BE6F-29E249C30A07}"/>
              </a:ext>
            </a:extLst>
          </p:cNvPr>
          <p:cNvCxnSpPr>
            <a:stCxn id="82" idx="3"/>
            <a:endCxn id="47" idx="1"/>
          </p:cNvCxnSpPr>
          <p:nvPr/>
        </p:nvCxnSpPr>
        <p:spPr>
          <a:xfrm>
            <a:off x="2234045" y="3930162"/>
            <a:ext cx="1077433" cy="504039"/>
          </a:xfrm>
          <a:prstGeom prst="bentConnector3">
            <a:avLst>
              <a:gd name="adj1" fmla="val 32551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1E14249-905C-5282-35CB-8D791661D7A0}"/>
              </a:ext>
            </a:extLst>
          </p:cNvPr>
          <p:cNvSpPr/>
          <p:nvPr/>
        </p:nvSpPr>
        <p:spPr>
          <a:xfrm>
            <a:off x="3311478" y="3223821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SIM_SHM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722DCFB-0E26-7AF9-5186-FF61DC268DE7}"/>
              </a:ext>
            </a:extLst>
          </p:cNvPr>
          <p:cNvSpPr txBox="1"/>
          <p:nvPr/>
        </p:nvSpPr>
        <p:spPr>
          <a:xfrm>
            <a:off x="406871" y="5409508"/>
            <a:ext cx="11582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상위 애플리케이션 루프</a:t>
            </a:r>
            <a:r>
              <a:rPr lang="en-US" altLang="ko-KR" sz="1600" dirty="0"/>
              <a:t>(App loop)</a:t>
            </a:r>
            <a:r>
              <a:rPr lang="ko-KR" altLang="en-US" sz="1600" dirty="0"/>
              <a:t>는 </a:t>
            </a:r>
            <a:r>
              <a:rPr lang="en-US" altLang="ko-KR" sz="1600" dirty="0"/>
              <a:t>IMU </a:t>
            </a:r>
            <a:r>
              <a:rPr lang="ko-KR" altLang="en-US" sz="1600" dirty="0"/>
              <a:t>및 </a:t>
            </a:r>
            <a:r>
              <a:rPr lang="en-US" altLang="ko-KR" sz="1600" dirty="0"/>
              <a:t>Attitude </a:t>
            </a:r>
            <a:r>
              <a:rPr lang="ko-KR" altLang="en-US" sz="1600" dirty="0"/>
              <a:t>계층의 공통 인터페이스</a:t>
            </a:r>
            <a:r>
              <a:rPr lang="en-US" altLang="ko-KR" sz="1600" dirty="0"/>
              <a:t>(IMU_IF, ATT_IF)</a:t>
            </a:r>
            <a:r>
              <a:rPr lang="ko-KR" altLang="en-US" sz="1600" dirty="0"/>
              <a:t>만을 호출하며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실제 구현은 내부적으로 교체 가능하도록 설계하였다</a:t>
            </a:r>
            <a:r>
              <a:rPr lang="en-US" altLang="ko-KR" sz="1600" dirty="0"/>
              <a:t>. </a:t>
            </a:r>
            <a:r>
              <a:rPr lang="ko-KR" altLang="en-US" sz="1600" dirty="0"/>
              <a:t>실 기체 환경에서는 </a:t>
            </a:r>
            <a:r>
              <a:rPr lang="en-US" altLang="ko-KR" sz="1600" dirty="0"/>
              <a:t>SPI </a:t>
            </a:r>
            <a:r>
              <a:rPr lang="ko-KR" altLang="en-US" sz="1600" dirty="0"/>
              <a:t>기반 </a:t>
            </a:r>
            <a:r>
              <a:rPr lang="en-US" altLang="ko-KR" sz="1600" dirty="0"/>
              <a:t>IMU </a:t>
            </a:r>
            <a:r>
              <a:rPr lang="ko-KR" altLang="en-US" sz="1600" dirty="0"/>
              <a:t>드라이버가 사용되며</a:t>
            </a:r>
            <a:r>
              <a:rPr lang="en-US" altLang="ko-KR" sz="1600" dirty="0"/>
              <a:t>, </a:t>
            </a:r>
            <a:r>
              <a:rPr lang="ko-KR" altLang="en-US" sz="1600" dirty="0"/>
              <a:t>시뮬레이터 환경에서는 </a:t>
            </a:r>
            <a:r>
              <a:rPr lang="en-US" altLang="ko-KR" sz="1600" dirty="0"/>
              <a:t>RPC </a:t>
            </a:r>
            <a:r>
              <a:rPr lang="ko-KR" altLang="en-US" sz="1600" dirty="0"/>
              <a:t>또는 </a:t>
            </a:r>
            <a:r>
              <a:rPr lang="en-US" altLang="ko-KR" sz="1600" dirty="0"/>
              <a:t>SHM </a:t>
            </a:r>
            <a:r>
              <a:rPr lang="ko-KR" altLang="en-US" sz="1600" dirty="0"/>
              <a:t>기반 가상 </a:t>
            </a:r>
            <a:r>
              <a:rPr lang="en-US" altLang="ko-KR" sz="1600" dirty="0"/>
              <a:t>IMU </a:t>
            </a:r>
            <a:r>
              <a:rPr lang="ko-KR" altLang="en-US" sz="1600" dirty="0"/>
              <a:t>구현이 선택적으로 적용된다</a:t>
            </a:r>
            <a:r>
              <a:rPr lang="en-US" altLang="ko-KR" sz="1600" dirty="0"/>
              <a:t>. </a:t>
            </a:r>
            <a:r>
              <a:rPr lang="ko-KR" altLang="en-US" sz="1600" dirty="0"/>
              <a:t>이러한 구조를 통해 통신 방식 및 실행 환경 변화에도 제어 루프의 구조와 동작을 동일하게 유지할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8600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8626-22D6-7C3F-72F7-17ACE98C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1C0243-1A60-DB6B-A091-22FAFBFDB2C3}"/>
              </a:ext>
            </a:extLst>
          </p:cNvPr>
          <p:cNvSpPr txBox="1"/>
          <p:nvPr/>
        </p:nvSpPr>
        <p:spPr>
          <a:xfrm>
            <a:off x="406871" y="173267"/>
            <a:ext cx="115828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</a:t>
            </a:r>
            <a:r>
              <a:rPr lang="en-US" altLang="ko-KR" b="1" dirty="0"/>
              <a:t>Shared Memory(SHM) </a:t>
            </a:r>
            <a:r>
              <a:rPr lang="ko-KR" altLang="en-US" b="1" dirty="0"/>
              <a:t>기반 고속 통신 구조 설계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AB6C75-4F89-2E97-6B75-343BC36D95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9393" y="772111"/>
            <a:ext cx="5871963" cy="531377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1135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476F-B3D1-D7E7-351D-369A2704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9012FF-F574-B039-FFDA-E8F7BE93F7D2}"/>
              </a:ext>
            </a:extLst>
          </p:cNvPr>
          <p:cNvSpPr txBox="1"/>
          <p:nvPr/>
        </p:nvSpPr>
        <p:spPr>
          <a:xfrm>
            <a:off x="406871" y="173267"/>
            <a:ext cx="1158287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4"/>
                </a:solidFill>
                <a:latin typeface="+mj-lt"/>
              </a:rPr>
              <a:t>4. </a:t>
            </a:r>
            <a:r>
              <a:rPr lang="ko-KR" altLang="en-US" b="1" dirty="0">
                <a:solidFill>
                  <a:schemeClr val="accent4"/>
                </a:solidFill>
                <a:latin typeface="+mj-lt"/>
              </a:rPr>
              <a:t>실험결과</a:t>
            </a:r>
            <a:endParaRPr lang="en-US" altLang="ko-KR" b="1" dirty="0">
              <a:solidFill>
                <a:schemeClr val="accent4"/>
              </a:solidFill>
              <a:latin typeface="+mj-lt"/>
            </a:endParaRPr>
          </a:p>
          <a:p>
            <a:endParaRPr lang="en-US" altLang="ko-KR" b="1" dirty="0">
              <a:solidFill>
                <a:schemeClr val="accent4"/>
              </a:solidFill>
              <a:latin typeface="+mj-lt"/>
            </a:endParaRPr>
          </a:p>
          <a:p>
            <a:r>
              <a:rPr lang="en-US" altLang="ko-KR" b="1" dirty="0">
                <a:solidFill>
                  <a:schemeClr val="accent4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chemeClr val="accent4"/>
                </a:solidFill>
                <a:latin typeface="+mj-lt"/>
              </a:rPr>
              <a:t>단순 호버링</a:t>
            </a:r>
            <a:r>
              <a:rPr lang="en-US" altLang="ko-KR" b="1" dirty="0">
                <a:solidFill>
                  <a:schemeClr val="accent4"/>
                </a:solidFill>
                <a:latin typeface="+mj-lt"/>
              </a:rPr>
              <a:t>)</a:t>
            </a:r>
          </a:p>
          <a:p>
            <a:r>
              <a:rPr lang="en-US" altLang="ko-KR" dirty="0">
                <a:solidFill>
                  <a:schemeClr val="accent4"/>
                </a:solidFill>
              </a:rPr>
              <a:t>RPC vs SHM </a:t>
            </a:r>
            <a:r>
              <a:rPr lang="ko-KR" altLang="en-US" dirty="0">
                <a:solidFill>
                  <a:schemeClr val="accent4"/>
                </a:solidFill>
              </a:rPr>
              <a:t>최대 센서 샘플링 주파수 비교</a:t>
            </a:r>
            <a:endParaRPr lang="en-US" altLang="ko-KR" dirty="0">
              <a:solidFill>
                <a:schemeClr val="accent4"/>
              </a:solidFill>
            </a:endParaRPr>
          </a:p>
          <a:p>
            <a:r>
              <a:rPr lang="en-US" altLang="ko-KR" dirty="0">
                <a:solidFill>
                  <a:schemeClr val="accent4"/>
                </a:solidFill>
              </a:rPr>
              <a:t>RPC vs SHM </a:t>
            </a:r>
            <a:r>
              <a:rPr lang="ko-KR" altLang="en-US" dirty="0">
                <a:solidFill>
                  <a:schemeClr val="accent4"/>
                </a:solidFill>
              </a:rPr>
              <a:t>지연 및 </a:t>
            </a:r>
            <a:r>
              <a:rPr lang="ko-KR" altLang="en-US" dirty="0" err="1">
                <a:solidFill>
                  <a:schemeClr val="accent4"/>
                </a:solidFill>
              </a:rPr>
              <a:t>지터</a:t>
            </a:r>
            <a:r>
              <a:rPr lang="ko-KR" altLang="en-US" dirty="0">
                <a:solidFill>
                  <a:schemeClr val="accent4"/>
                </a:solidFill>
              </a:rPr>
              <a:t> 특성 비교</a:t>
            </a:r>
            <a:endParaRPr lang="en-US" altLang="ko-KR" dirty="0">
              <a:solidFill>
                <a:schemeClr val="accent4"/>
              </a:solidFill>
            </a:endParaRPr>
          </a:p>
          <a:p>
            <a:r>
              <a:rPr lang="en-US" altLang="ko-KR" dirty="0">
                <a:solidFill>
                  <a:schemeClr val="accent4"/>
                </a:solidFill>
              </a:rPr>
              <a:t>RPC vs SHM </a:t>
            </a:r>
            <a:r>
              <a:rPr lang="ko-KR" altLang="en-US" dirty="0">
                <a:solidFill>
                  <a:schemeClr val="accent4"/>
                </a:solidFill>
              </a:rPr>
              <a:t>비행 제어 성능 비교</a:t>
            </a:r>
            <a:endParaRPr lang="en-US" altLang="ko-KR" dirty="0">
              <a:solidFill>
                <a:schemeClr val="accent4"/>
              </a:solidFill>
            </a:endParaRPr>
          </a:p>
          <a:p>
            <a:endParaRPr lang="en-US" altLang="ko-KR" dirty="0">
              <a:solidFill>
                <a:schemeClr val="accent4"/>
              </a:solidFill>
            </a:endParaRPr>
          </a:p>
          <a:p>
            <a:r>
              <a:rPr lang="en-US" altLang="ko-KR" b="1" dirty="0">
                <a:solidFill>
                  <a:schemeClr val="accent4"/>
                </a:solidFill>
              </a:rPr>
              <a:t>(</a:t>
            </a:r>
            <a:r>
              <a:rPr lang="ko-KR" altLang="en-US" b="1" dirty="0" err="1">
                <a:solidFill>
                  <a:schemeClr val="accent4"/>
                </a:solidFill>
              </a:rPr>
              <a:t>외란</a:t>
            </a:r>
            <a:r>
              <a:rPr lang="ko-KR" altLang="en-US" b="1" dirty="0">
                <a:solidFill>
                  <a:schemeClr val="accent4"/>
                </a:solidFill>
              </a:rPr>
              <a:t> 주입 시</a:t>
            </a:r>
            <a:r>
              <a:rPr lang="en-US" altLang="ko-KR" b="1" dirty="0">
                <a:solidFill>
                  <a:schemeClr val="accent4"/>
                </a:solidFill>
              </a:rPr>
              <a:t>)</a:t>
            </a:r>
            <a:endParaRPr lang="en-US" altLang="ko-KR" dirty="0">
              <a:solidFill>
                <a:schemeClr val="accent4"/>
              </a:solidFill>
            </a:endParaRPr>
          </a:p>
          <a:p>
            <a:r>
              <a:rPr lang="en-US" altLang="ko-KR" dirty="0">
                <a:solidFill>
                  <a:schemeClr val="accent4"/>
                </a:solidFill>
              </a:rPr>
              <a:t>RPC vs SHM </a:t>
            </a:r>
            <a:r>
              <a:rPr lang="ko-KR" altLang="en-US" dirty="0">
                <a:solidFill>
                  <a:schemeClr val="accent4"/>
                </a:solidFill>
              </a:rPr>
              <a:t>비행 제어 성능 비교</a:t>
            </a:r>
            <a:endParaRPr lang="en-US" altLang="ko-KR" dirty="0">
              <a:solidFill>
                <a:schemeClr val="accent4"/>
              </a:solidFill>
            </a:endParaRPr>
          </a:p>
          <a:p>
            <a:endParaRPr lang="en-US" altLang="ko-KR" b="1" dirty="0">
              <a:solidFill>
                <a:schemeClr val="accent4"/>
              </a:solidFill>
            </a:endParaRPr>
          </a:p>
          <a:p>
            <a:endParaRPr lang="en-US" altLang="ko-KR" b="1" dirty="0">
              <a:solidFill>
                <a:schemeClr val="accent4"/>
              </a:solidFill>
            </a:endParaRPr>
          </a:p>
          <a:p>
            <a:r>
              <a:rPr lang="en-US" altLang="ko-KR" sz="1600" dirty="0">
                <a:solidFill>
                  <a:schemeClr val="accent4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69333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1462</TotalTime>
  <Words>1895</Words>
  <Application>Microsoft Office PowerPoint</Application>
  <PresentationFormat>와이드스크린</PresentationFormat>
  <Paragraphs>230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odes n</dc:creator>
  <cp:lastModifiedBy>인투 스카이2</cp:lastModifiedBy>
  <cp:revision>25</cp:revision>
  <dcterms:created xsi:type="dcterms:W3CDTF">2025-12-09T13:25:44Z</dcterms:created>
  <dcterms:modified xsi:type="dcterms:W3CDTF">2025-12-15T13:18:50Z</dcterms:modified>
</cp:coreProperties>
</file>